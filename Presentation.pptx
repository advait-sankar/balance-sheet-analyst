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3C383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3C383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5626" y="226582"/>
            <a:ext cx="10338747" cy="13818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626" y="1561247"/>
            <a:ext cx="7589520" cy="439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3C3838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2054225"/>
            <a:ext cx="44494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40"/>
              <a:t>B&amp;l&amp;nce</a:t>
            </a:r>
            <a:r>
              <a:rPr dirty="0" spc="-185"/>
              <a:t> </a:t>
            </a:r>
            <a:r>
              <a:rPr dirty="0" spc="125"/>
              <a:t>Sheet</a:t>
            </a:r>
            <a:r>
              <a:rPr dirty="0" spc="-254"/>
              <a:t> </a:t>
            </a:r>
            <a:r>
              <a:rPr dirty="0" spc="-10"/>
              <a:t>An&amp;lyst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2882900"/>
            <a:ext cx="5640705" cy="144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AI-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driven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financial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analysis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platform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corporate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data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exploration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Author:</a:t>
            </a:r>
            <a:r>
              <a:rPr dirty="0" sz="1350" spc="-20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Prasunn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Dubey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Department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of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Computer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Science,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AI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Machine Learning Specialization Birla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Institute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of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Technology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4" name="object 4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3842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25"/>
              </a:spcBef>
            </a:pPr>
            <a:r>
              <a:rPr dirty="0" spc="60"/>
              <a:t>Executive</a:t>
            </a:r>
            <a:r>
              <a:rPr dirty="0" spc="-135"/>
              <a:t> </a:t>
            </a:r>
            <a:r>
              <a:rPr dirty="0" spc="90"/>
              <a:t>Summ&amp;ry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1764664"/>
            <a:ext cx="5928360" cy="8445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Balance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Sheet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Analyst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integrates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6BD8"/>
                </a:solidFill>
                <a:latin typeface="Roboto"/>
                <a:cs typeface="Roboto"/>
              </a:rPr>
              <a:t>Natural</a:t>
            </a:r>
            <a:r>
              <a:rPr dirty="0" sz="1350" spc="-40">
                <a:solidFill>
                  <a:srgbClr val="FF6B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6BD8"/>
                </a:solidFill>
                <a:latin typeface="Roboto"/>
                <a:cs typeface="Roboto"/>
              </a:rPr>
              <a:t>Language</a:t>
            </a:r>
            <a:r>
              <a:rPr dirty="0" sz="1350" spc="-45">
                <a:solidFill>
                  <a:srgbClr val="FF6B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6BD8"/>
                </a:solidFill>
                <a:latin typeface="Roboto"/>
                <a:cs typeface="Roboto"/>
              </a:rPr>
              <a:t>Processing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,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Retrieval-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Augmented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Generation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(RAG),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LLM-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powered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analytics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interpret financial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data.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7375" y="2736214"/>
            <a:ext cx="576135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Built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FastAPI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backend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Streamlit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frontend,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system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processes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balance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sheets,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generates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insights,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visualizes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metrics,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answers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natural-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language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queries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real-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time.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7375" y="3787775"/>
            <a:ext cx="463232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Leverages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multiple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LLMs: </a:t>
            </a: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OpenAI</a:t>
            </a:r>
            <a:r>
              <a:rPr dirty="0" sz="1350" spc="-10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50" b="1">
                <a:solidFill>
                  <a:srgbClr val="3C3838"/>
                </a:solidFill>
                <a:latin typeface="Roboto"/>
                <a:cs typeface="Roboto"/>
              </a:rPr>
              <a:t>GPT-</a:t>
            </a: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4o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,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Groq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,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C3838"/>
                </a:solidFill>
                <a:latin typeface="Roboto"/>
                <a:cs typeface="Roboto"/>
              </a:rPr>
              <a:t>Ollama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66101" y="1850389"/>
            <a:ext cx="2306320" cy="1558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50">
                <a:solidFill>
                  <a:srgbClr val="3C3838"/>
                </a:solidFill>
                <a:latin typeface="Trebuchet MS"/>
                <a:cs typeface="Trebuchet MS"/>
              </a:rPr>
              <a:t>3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70">
                <a:solidFill>
                  <a:srgbClr val="3C3838"/>
                </a:solidFill>
                <a:latin typeface="Trebuchet MS"/>
                <a:cs typeface="Trebuchet MS"/>
              </a:rPr>
              <a:t>Core</a:t>
            </a:r>
            <a:r>
              <a:rPr dirty="0" sz="1650" spc="-6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85">
                <a:solidFill>
                  <a:srgbClr val="3C3838"/>
                </a:solidFill>
                <a:latin typeface="Trebuchet MS"/>
                <a:cs typeface="Trebuchet MS"/>
              </a:rPr>
              <a:t>Components</a:t>
            </a:r>
            <a:endParaRPr sz="1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20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Backend,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Frontend,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LLM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Layer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74621" y="3774440"/>
            <a:ext cx="1688464" cy="1148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50">
                <a:solidFill>
                  <a:srgbClr val="3C3838"/>
                </a:solidFill>
                <a:latin typeface="Trebuchet MS"/>
                <a:cs typeface="Trebuchet MS"/>
              </a:rPr>
              <a:t>3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190">
                <a:solidFill>
                  <a:srgbClr val="3C3838"/>
                </a:solidFill>
                <a:latin typeface="Trebuchet MS"/>
                <a:cs typeface="Trebuchet MS"/>
              </a:rPr>
              <a:t>LLM</a:t>
            </a:r>
            <a:r>
              <a:rPr dirty="0" sz="1650" spc="-7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Integrations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97243" y="5102225"/>
            <a:ext cx="16433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OpenAI,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Groq,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Ollama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9" name="object 9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075" rIns="0" bIns="0" rtlCol="0" vert="horz">
            <a:spAutoFit/>
          </a:bodyPr>
          <a:lstStyle/>
          <a:p>
            <a:pPr marL="4110990">
              <a:lnSpc>
                <a:spcPct val="100000"/>
              </a:lnSpc>
              <a:spcBef>
                <a:spcPts val="114"/>
              </a:spcBef>
            </a:pPr>
            <a:r>
              <a:rPr dirty="0" sz="3200" spc="145"/>
              <a:t>System</a:t>
            </a:r>
            <a:r>
              <a:rPr dirty="0" sz="3200" spc="-240"/>
              <a:t> </a:t>
            </a:r>
            <a:r>
              <a:rPr dirty="0" sz="3200" spc="-10"/>
              <a:t>Architecture</a:t>
            </a:r>
            <a:endParaRPr sz="3200"/>
          </a:p>
        </p:txBody>
      </p:sp>
      <p:grpSp>
        <p:nvGrpSpPr>
          <p:cNvPr id="3" name="object 3" descr=""/>
          <p:cNvGrpSpPr/>
          <p:nvPr/>
        </p:nvGrpSpPr>
        <p:grpSpPr>
          <a:xfrm>
            <a:off x="4657106" y="1289101"/>
            <a:ext cx="2750820" cy="2660015"/>
            <a:chOff x="4657106" y="1289101"/>
            <a:chExt cx="2750820" cy="2660015"/>
          </a:xfrm>
        </p:grpSpPr>
        <p:sp>
          <p:nvSpPr>
            <p:cNvPr id="4" name="object 4" descr=""/>
            <p:cNvSpPr/>
            <p:nvPr/>
          </p:nvSpPr>
          <p:spPr>
            <a:xfrm>
              <a:off x="4661645" y="1293640"/>
              <a:ext cx="2741930" cy="2651125"/>
            </a:xfrm>
            <a:custGeom>
              <a:avLst/>
              <a:gdLst/>
              <a:ahLst/>
              <a:cxnLst/>
              <a:rect l="l" t="t" r="r" b="b"/>
              <a:pathLst>
                <a:path w="2741929" h="2651125">
                  <a:moveTo>
                    <a:pt x="2692418" y="0"/>
                  </a:moveTo>
                  <a:lnTo>
                    <a:pt x="49191" y="0"/>
                  </a:lnTo>
                  <a:lnTo>
                    <a:pt x="45766" y="338"/>
                  </a:lnTo>
                  <a:lnTo>
                    <a:pt x="10796" y="20528"/>
                  </a:lnTo>
                  <a:lnTo>
                    <a:pt x="0" y="49191"/>
                  </a:lnTo>
                  <a:lnTo>
                    <a:pt x="0" y="2598175"/>
                  </a:lnTo>
                  <a:lnTo>
                    <a:pt x="0" y="2601624"/>
                  </a:lnTo>
                  <a:lnTo>
                    <a:pt x="17865" y="2637852"/>
                  </a:lnTo>
                  <a:lnTo>
                    <a:pt x="49191" y="2650828"/>
                  </a:lnTo>
                  <a:lnTo>
                    <a:pt x="2692418" y="2650828"/>
                  </a:lnTo>
                  <a:lnTo>
                    <a:pt x="2728634" y="2632962"/>
                  </a:lnTo>
                  <a:lnTo>
                    <a:pt x="2741610" y="2601624"/>
                  </a:lnTo>
                  <a:lnTo>
                    <a:pt x="2741610" y="49191"/>
                  </a:lnTo>
                  <a:lnTo>
                    <a:pt x="2723744" y="12975"/>
                  </a:lnTo>
                  <a:lnTo>
                    <a:pt x="2695832" y="338"/>
                  </a:lnTo>
                  <a:lnTo>
                    <a:pt x="2692418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661645" y="1293640"/>
              <a:ext cx="2741930" cy="2651125"/>
            </a:xfrm>
            <a:custGeom>
              <a:avLst/>
              <a:gdLst/>
              <a:ahLst/>
              <a:cxnLst/>
              <a:rect l="l" t="t" r="r" b="b"/>
              <a:pathLst>
                <a:path w="2741929" h="2651125">
                  <a:moveTo>
                    <a:pt x="0" y="2598175"/>
                  </a:moveTo>
                  <a:lnTo>
                    <a:pt x="0" y="52653"/>
                  </a:lnTo>
                  <a:lnTo>
                    <a:pt x="0" y="49191"/>
                  </a:lnTo>
                  <a:lnTo>
                    <a:pt x="338" y="45778"/>
                  </a:lnTo>
                  <a:lnTo>
                    <a:pt x="1016" y="42376"/>
                  </a:lnTo>
                  <a:lnTo>
                    <a:pt x="1682" y="38987"/>
                  </a:lnTo>
                  <a:lnTo>
                    <a:pt x="2687" y="35695"/>
                  </a:lnTo>
                  <a:lnTo>
                    <a:pt x="4006" y="32499"/>
                  </a:lnTo>
                  <a:lnTo>
                    <a:pt x="5325" y="29304"/>
                  </a:lnTo>
                  <a:lnTo>
                    <a:pt x="6947" y="26278"/>
                  </a:lnTo>
                  <a:lnTo>
                    <a:pt x="32499" y="4006"/>
                  </a:lnTo>
                  <a:lnTo>
                    <a:pt x="35695" y="2687"/>
                  </a:lnTo>
                  <a:lnTo>
                    <a:pt x="38987" y="1682"/>
                  </a:lnTo>
                  <a:lnTo>
                    <a:pt x="42376" y="1016"/>
                  </a:lnTo>
                  <a:lnTo>
                    <a:pt x="45766" y="338"/>
                  </a:lnTo>
                  <a:lnTo>
                    <a:pt x="49191" y="0"/>
                  </a:lnTo>
                  <a:lnTo>
                    <a:pt x="52653" y="0"/>
                  </a:lnTo>
                  <a:lnTo>
                    <a:pt x="2688956" y="0"/>
                  </a:lnTo>
                  <a:lnTo>
                    <a:pt x="2692418" y="0"/>
                  </a:lnTo>
                  <a:lnTo>
                    <a:pt x="2695832" y="338"/>
                  </a:lnTo>
                  <a:lnTo>
                    <a:pt x="2699221" y="1016"/>
                  </a:lnTo>
                  <a:lnTo>
                    <a:pt x="2702622" y="1682"/>
                  </a:lnTo>
                  <a:lnTo>
                    <a:pt x="2705914" y="2687"/>
                  </a:lnTo>
                  <a:lnTo>
                    <a:pt x="2709110" y="4006"/>
                  </a:lnTo>
                  <a:lnTo>
                    <a:pt x="2712305" y="5325"/>
                  </a:lnTo>
                  <a:lnTo>
                    <a:pt x="2738923" y="35695"/>
                  </a:lnTo>
                  <a:lnTo>
                    <a:pt x="2740593" y="42376"/>
                  </a:lnTo>
                  <a:lnTo>
                    <a:pt x="2741271" y="45778"/>
                  </a:lnTo>
                  <a:lnTo>
                    <a:pt x="2741610" y="49191"/>
                  </a:lnTo>
                  <a:lnTo>
                    <a:pt x="2741610" y="52653"/>
                  </a:lnTo>
                  <a:lnTo>
                    <a:pt x="2741610" y="2598175"/>
                  </a:lnTo>
                  <a:lnTo>
                    <a:pt x="2741610" y="2601624"/>
                  </a:lnTo>
                  <a:lnTo>
                    <a:pt x="2741271" y="2605050"/>
                  </a:lnTo>
                  <a:lnTo>
                    <a:pt x="2740593" y="2608451"/>
                  </a:lnTo>
                  <a:lnTo>
                    <a:pt x="2739927" y="2611840"/>
                  </a:lnTo>
                  <a:lnTo>
                    <a:pt x="2715331" y="2643868"/>
                  </a:lnTo>
                  <a:lnTo>
                    <a:pt x="2699221" y="2649811"/>
                  </a:lnTo>
                  <a:lnTo>
                    <a:pt x="2695832" y="2650489"/>
                  </a:lnTo>
                  <a:lnTo>
                    <a:pt x="2692418" y="2650828"/>
                  </a:lnTo>
                  <a:lnTo>
                    <a:pt x="2688956" y="2650828"/>
                  </a:lnTo>
                  <a:lnTo>
                    <a:pt x="52653" y="2650828"/>
                  </a:lnTo>
                  <a:lnTo>
                    <a:pt x="49191" y="2650828"/>
                  </a:lnTo>
                  <a:lnTo>
                    <a:pt x="45766" y="2650489"/>
                  </a:lnTo>
                  <a:lnTo>
                    <a:pt x="15420" y="2635407"/>
                  </a:lnTo>
                  <a:lnTo>
                    <a:pt x="12975" y="2632962"/>
                  </a:lnTo>
                  <a:lnTo>
                    <a:pt x="4006" y="2618316"/>
                  </a:lnTo>
                  <a:lnTo>
                    <a:pt x="2687" y="2615133"/>
                  </a:lnTo>
                  <a:lnTo>
                    <a:pt x="1682" y="2611840"/>
                  </a:lnTo>
                  <a:lnTo>
                    <a:pt x="1016" y="2608451"/>
                  </a:lnTo>
                  <a:lnTo>
                    <a:pt x="338" y="2605050"/>
                  </a:lnTo>
                  <a:lnTo>
                    <a:pt x="0" y="2601624"/>
                  </a:lnTo>
                  <a:lnTo>
                    <a:pt x="0" y="2598175"/>
                  </a:lnTo>
                  <a:close/>
                </a:path>
              </a:pathLst>
            </a:custGeom>
            <a:ln w="9078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29591" y="1461586"/>
              <a:ext cx="490220" cy="490220"/>
            </a:xfrm>
            <a:custGeom>
              <a:avLst/>
              <a:gdLst/>
              <a:ahLst/>
              <a:cxnLst/>
              <a:rect l="l" t="t" r="r" b="b"/>
              <a:pathLst>
                <a:path w="490220" h="490219">
                  <a:moveTo>
                    <a:pt x="253135" y="0"/>
                  </a:moveTo>
                  <a:lnTo>
                    <a:pt x="237085" y="0"/>
                  </a:lnTo>
                  <a:lnTo>
                    <a:pt x="229072" y="387"/>
                  </a:lnTo>
                  <a:lnTo>
                    <a:pt x="189419" y="6269"/>
                  </a:lnTo>
                  <a:lnTo>
                    <a:pt x="143895" y="21727"/>
                  </a:lnTo>
                  <a:lnTo>
                    <a:pt x="102256" y="45766"/>
                  </a:lnTo>
                  <a:lnTo>
                    <a:pt x="66113" y="77467"/>
                  </a:lnTo>
                  <a:lnTo>
                    <a:pt x="36845" y="115607"/>
                  </a:lnTo>
                  <a:lnTo>
                    <a:pt x="15590" y="158722"/>
                  </a:lnTo>
                  <a:lnTo>
                    <a:pt x="3147" y="205166"/>
                  </a:lnTo>
                  <a:lnTo>
                    <a:pt x="0" y="237085"/>
                  </a:lnTo>
                  <a:lnTo>
                    <a:pt x="0" y="245110"/>
                  </a:lnTo>
                  <a:lnTo>
                    <a:pt x="0" y="253135"/>
                  </a:lnTo>
                  <a:lnTo>
                    <a:pt x="6269" y="300802"/>
                  </a:lnTo>
                  <a:lnTo>
                    <a:pt x="21727" y="346326"/>
                  </a:lnTo>
                  <a:lnTo>
                    <a:pt x="45766" y="387952"/>
                  </a:lnTo>
                  <a:lnTo>
                    <a:pt x="77467" y="424108"/>
                  </a:lnTo>
                  <a:lnTo>
                    <a:pt x="115607" y="453376"/>
                  </a:lnTo>
                  <a:lnTo>
                    <a:pt x="158722" y="474631"/>
                  </a:lnTo>
                  <a:lnTo>
                    <a:pt x="205166" y="487074"/>
                  </a:lnTo>
                  <a:lnTo>
                    <a:pt x="237085" y="490221"/>
                  </a:lnTo>
                  <a:lnTo>
                    <a:pt x="253135" y="490221"/>
                  </a:lnTo>
                  <a:lnTo>
                    <a:pt x="300802" y="483951"/>
                  </a:lnTo>
                  <a:lnTo>
                    <a:pt x="346326" y="468494"/>
                  </a:lnTo>
                  <a:lnTo>
                    <a:pt x="387965" y="444455"/>
                  </a:lnTo>
                  <a:lnTo>
                    <a:pt x="424108" y="412754"/>
                  </a:lnTo>
                  <a:lnTo>
                    <a:pt x="453376" y="374614"/>
                  </a:lnTo>
                  <a:lnTo>
                    <a:pt x="474643" y="331498"/>
                  </a:lnTo>
                  <a:lnTo>
                    <a:pt x="487074" y="285054"/>
                  </a:lnTo>
                  <a:lnTo>
                    <a:pt x="490221" y="253135"/>
                  </a:lnTo>
                  <a:lnTo>
                    <a:pt x="490221" y="237085"/>
                  </a:lnTo>
                  <a:lnTo>
                    <a:pt x="483951" y="189419"/>
                  </a:lnTo>
                  <a:lnTo>
                    <a:pt x="468494" y="143895"/>
                  </a:lnTo>
                  <a:lnTo>
                    <a:pt x="444455" y="102256"/>
                  </a:lnTo>
                  <a:lnTo>
                    <a:pt x="412754" y="66113"/>
                  </a:lnTo>
                  <a:lnTo>
                    <a:pt x="374614" y="36845"/>
                  </a:lnTo>
                  <a:lnTo>
                    <a:pt x="331498" y="15578"/>
                  </a:lnTo>
                  <a:lnTo>
                    <a:pt x="285054" y="3147"/>
                  </a:lnTo>
                  <a:lnTo>
                    <a:pt x="261148" y="387"/>
                  </a:lnTo>
                  <a:lnTo>
                    <a:pt x="253135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0723" y="1606081"/>
              <a:ext cx="230500" cy="20372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4816891" y="2097976"/>
            <a:ext cx="2334260" cy="1642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3C3838"/>
                </a:solidFill>
                <a:latin typeface="Trebuchet MS"/>
                <a:cs typeface="Trebuchet MS"/>
              </a:rPr>
              <a:t>B&amp;ckend</a:t>
            </a:r>
            <a:r>
              <a:rPr dirty="0" sz="1600" spc="15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3C3838"/>
                </a:solidFill>
                <a:latin typeface="Trebuchet MS"/>
                <a:cs typeface="Trebuchet MS"/>
              </a:rPr>
              <a:t>GF&amp;stAPI3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ct val="137000"/>
              </a:lnSpc>
              <a:spcBef>
                <a:spcPts val="520"/>
              </a:spcBef>
            </a:pPr>
            <a:r>
              <a:rPr dirty="0" sz="1250" spc="-25">
                <a:solidFill>
                  <a:srgbClr val="3C3838"/>
                </a:solidFill>
                <a:latin typeface="Roboto"/>
                <a:cs typeface="Roboto"/>
              </a:rPr>
              <a:t>High-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performance</a:t>
            </a:r>
            <a:r>
              <a:rPr dirty="0" sz="1250" spc="8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API</a:t>
            </a:r>
            <a:r>
              <a:rPr dirty="0" sz="1250" spc="8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3C3838"/>
                </a:solidFill>
                <a:latin typeface="Roboto"/>
                <a:cs typeface="Roboto"/>
              </a:rPr>
              <a:t>handling,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authentication,</a:t>
            </a:r>
            <a:r>
              <a:rPr dirty="0" sz="1250" spc="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PDF</a:t>
            </a:r>
            <a:r>
              <a:rPr dirty="0" sz="1250" spc="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3C3838"/>
                </a:solidFill>
                <a:latin typeface="Roboto"/>
                <a:cs typeface="Roboto"/>
              </a:rPr>
              <a:t>processing,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250" spc="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3C3838"/>
                </a:solidFill>
                <a:latin typeface="Roboto"/>
                <a:cs typeface="Roboto"/>
              </a:rPr>
              <a:t>JSON-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based</a:t>
            </a:r>
            <a:r>
              <a:rPr dirty="0" sz="1250" spc="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balance</a:t>
            </a:r>
            <a:r>
              <a:rPr dirty="0" sz="1250" spc="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3C3838"/>
                </a:solidFill>
                <a:latin typeface="Roboto"/>
                <a:cs typeface="Roboto"/>
              </a:rPr>
              <a:t>sheet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storage</a:t>
            </a:r>
            <a:r>
              <a:rPr dirty="0" sz="1250" spc="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dirty="0" sz="1250" spc="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secure</a:t>
            </a:r>
            <a:r>
              <a:rPr dirty="0" sz="1250" spc="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20">
                <a:solidFill>
                  <a:srgbClr val="3C3838"/>
                </a:solidFill>
                <a:latin typeface="Roboto"/>
                <a:cs typeface="Roboto"/>
              </a:rPr>
              <a:t>CORS </a:t>
            </a:r>
            <a:r>
              <a:rPr dirty="0" sz="1250" spc="-10">
                <a:solidFill>
                  <a:srgbClr val="3C3838"/>
                </a:solidFill>
                <a:latin typeface="Roboto"/>
                <a:cs typeface="Roboto"/>
              </a:rPr>
              <a:t>communication.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571202" y="1289101"/>
            <a:ext cx="2750820" cy="2660015"/>
            <a:chOff x="7571202" y="1289101"/>
            <a:chExt cx="2750820" cy="2660015"/>
          </a:xfrm>
        </p:grpSpPr>
        <p:sp>
          <p:nvSpPr>
            <p:cNvPr id="10" name="object 10" descr=""/>
            <p:cNvSpPr/>
            <p:nvPr/>
          </p:nvSpPr>
          <p:spPr>
            <a:xfrm>
              <a:off x="7575741" y="1293640"/>
              <a:ext cx="2741930" cy="2651125"/>
            </a:xfrm>
            <a:custGeom>
              <a:avLst/>
              <a:gdLst/>
              <a:ahLst/>
              <a:cxnLst/>
              <a:rect l="l" t="t" r="r" b="b"/>
              <a:pathLst>
                <a:path w="2741929" h="2651125">
                  <a:moveTo>
                    <a:pt x="2692418" y="0"/>
                  </a:moveTo>
                  <a:lnTo>
                    <a:pt x="49191" y="0"/>
                  </a:lnTo>
                  <a:lnTo>
                    <a:pt x="45766" y="338"/>
                  </a:lnTo>
                  <a:lnTo>
                    <a:pt x="10796" y="20528"/>
                  </a:lnTo>
                  <a:lnTo>
                    <a:pt x="0" y="49191"/>
                  </a:lnTo>
                  <a:lnTo>
                    <a:pt x="0" y="2598175"/>
                  </a:lnTo>
                  <a:lnTo>
                    <a:pt x="0" y="2601624"/>
                  </a:lnTo>
                  <a:lnTo>
                    <a:pt x="17865" y="2637852"/>
                  </a:lnTo>
                  <a:lnTo>
                    <a:pt x="49191" y="2650828"/>
                  </a:lnTo>
                  <a:lnTo>
                    <a:pt x="2692418" y="2650828"/>
                  </a:lnTo>
                  <a:lnTo>
                    <a:pt x="2728634" y="2632962"/>
                  </a:lnTo>
                  <a:lnTo>
                    <a:pt x="2741610" y="2601624"/>
                  </a:lnTo>
                  <a:lnTo>
                    <a:pt x="2741610" y="49191"/>
                  </a:lnTo>
                  <a:lnTo>
                    <a:pt x="2723744" y="12975"/>
                  </a:lnTo>
                  <a:lnTo>
                    <a:pt x="2695832" y="338"/>
                  </a:lnTo>
                  <a:lnTo>
                    <a:pt x="2692418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75741" y="1293640"/>
              <a:ext cx="2741930" cy="2651125"/>
            </a:xfrm>
            <a:custGeom>
              <a:avLst/>
              <a:gdLst/>
              <a:ahLst/>
              <a:cxnLst/>
              <a:rect l="l" t="t" r="r" b="b"/>
              <a:pathLst>
                <a:path w="2741929" h="2651125">
                  <a:moveTo>
                    <a:pt x="0" y="2598175"/>
                  </a:moveTo>
                  <a:lnTo>
                    <a:pt x="0" y="52653"/>
                  </a:lnTo>
                  <a:lnTo>
                    <a:pt x="0" y="49191"/>
                  </a:lnTo>
                  <a:lnTo>
                    <a:pt x="338" y="45778"/>
                  </a:lnTo>
                  <a:lnTo>
                    <a:pt x="1016" y="42376"/>
                  </a:lnTo>
                  <a:lnTo>
                    <a:pt x="1682" y="38987"/>
                  </a:lnTo>
                  <a:lnTo>
                    <a:pt x="2687" y="35695"/>
                  </a:lnTo>
                  <a:lnTo>
                    <a:pt x="4006" y="32499"/>
                  </a:lnTo>
                  <a:lnTo>
                    <a:pt x="5325" y="29304"/>
                  </a:lnTo>
                  <a:lnTo>
                    <a:pt x="6947" y="26278"/>
                  </a:lnTo>
                  <a:lnTo>
                    <a:pt x="32499" y="4006"/>
                  </a:lnTo>
                  <a:lnTo>
                    <a:pt x="35695" y="2687"/>
                  </a:lnTo>
                  <a:lnTo>
                    <a:pt x="38987" y="1682"/>
                  </a:lnTo>
                  <a:lnTo>
                    <a:pt x="42376" y="1016"/>
                  </a:lnTo>
                  <a:lnTo>
                    <a:pt x="45766" y="338"/>
                  </a:lnTo>
                  <a:lnTo>
                    <a:pt x="49191" y="0"/>
                  </a:lnTo>
                  <a:lnTo>
                    <a:pt x="52653" y="0"/>
                  </a:lnTo>
                  <a:lnTo>
                    <a:pt x="2688956" y="0"/>
                  </a:lnTo>
                  <a:lnTo>
                    <a:pt x="2692418" y="0"/>
                  </a:lnTo>
                  <a:lnTo>
                    <a:pt x="2695832" y="338"/>
                  </a:lnTo>
                  <a:lnTo>
                    <a:pt x="2699221" y="1016"/>
                  </a:lnTo>
                  <a:lnTo>
                    <a:pt x="2702622" y="1682"/>
                  </a:lnTo>
                  <a:lnTo>
                    <a:pt x="2705914" y="2687"/>
                  </a:lnTo>
                  <a:lnTo>
                    <a:pt x="2709098" y="4006"/>
                  </a:lnTo>
                  <a:lnTo>
                    <a:pt x="2712305" y="5325"/>
                  </a:lnTo>
                  <a:lnTo>
                    <a:pt x="2715331" y="6947"/>
                  </a:lnTo>
                  <a:lnTo>
                    <a:pt x="2718200" y="8872"/>
                  </a:lnTo>
                  <a:lnTo>
                    <a:pt x="2721081" y="10796"/>
                  </a:lnTo>
                  <a:lnTo>
                    <a:pt x="2740593" y="42376"/>
                  </a:lnTo>
                  <a:lnTo>
                    <a:pt x="2741271" y="45778"/>
                  </a:lnTo>
                  <a:lnTo>
                    <a:pt x="2741610" y="49191"/>
                  </a:lnTo>
                  <a:lnTo>
                    <a:pt x="2741610" y="52653"/>
                  </a:lnTo>
                  <a:lnTo>
                    <a:pt x="2741610" y="2598175"/>
                  </a:lnTo>
                  <a:lnTo>
                    <a:pt x="2741610" y="2601624"/>
                  </a:lnTo>
                  <a:lnTo>
                    <a:pt x="2741271" y="2605050"/>
                  </a:lnTo>
                  <a:lnTo>
                    <a:pt x="2740593" y="2608451"/>
                  </a:lnTo>
                  <a:lnTo>
                    <a:pt x="2739927" y="2611840"/>
                  </a:lnTo>
                  <a:lnTo>
                    <a:pt x="2715331" y="2643868"/>
                  </a:lnTo>
                  <a:lnTo>
                    <a:pt x="2699221" y="2649811"/>
                  </a:lnTo>
                  <a:lnTo>
                    <a:pt x="2695832" y="2650489"/>
                  </a:lnTo>
                  <a:lnTo>
                    <a:pt x="2692418" y="2650828"/>
                  </a:lnTo>
                  <a:lnTo>
                    <a:pt x="2688956" y="2650828"/>
                  </a:lnTo>
                  <a:lnTo>
                    <a:pt x="52653" y="2650828"/>
                  </a:lnTo>
                  <a:lnTo>
                    <a:pt x="49191" y="2650828"/>
                  </a:lnTo>
                  <a:lnTo>
                    <a:pt x="45766" y="2650489"/>
                  </a:lnTo>
                  <a:lnTo>
                    <a:pt x="10796" y="2630299"/>
                  </a:lnTo>
                  <a:lnTo>
                    <a:pt x="4006" y="2618316"/>
                  </a:lnTo>
                  <a:lnTo>
                    <a:pt x="2687" y="2615133"/>
                  </a:lnTo>
                  <a:lnTo>
                    <a:pt x="1682" y="2611840"/>
                  </a:lnTo>
                  <a:lnTo>
                    <a:pt x="1016" y="2608451"/>
                  </a:lnTo>
                  <a:lnTo>
                    <a:pt x="338" y="2605050"/>
                  </a:lnTo>
                  <a:lnTo>
                    <a:pt x="0" y="2601624"/>
                  </a:lnTo>
                  <a:lnTo>
                    <a:pt x="0" y="2598175"/>
                  </a:lnTo>
                  <a:close/>
                </a:path>
              </a:pathLst>
            </a:custGeom>
            <a:ln w="9078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743687" y="1461586"/>
              <a:ext cx="490220" cy="490220"/>
            </a:xfrm>
            <a:custGeom>
              <a:avLst/>
              <a:gdLst/>
              <a:ahLst/>
              <a:cxnLst/>
              <a:rect l="l" t="t" r="r" b="b"/>
              <a:pathLst>
                <a:path w="490220" h="490219">
                  <a:moveTo>
                    <a:pt x="253135" y="0"/>
                  </a:moveTo>
                  <a:lnTo>
                    <a:pt x="237085" y="0"/>
                  </a:lnTo>
                  <a:lnTo>
                    <a:pt x="229072" y="387"/>
                  </a:lnTo>
                  <a:lnTo>
                    <a:pt x="189419" y="6269"/>
                  </a:lnTo>
                  <a:lnTo>
                    <a:pt x="143895" y="21727"/>
                  </a:lnTo>
                  <a:lnTo>
                    <a:pt x="102256" y="45766"/>
                  </a:lnTo>
                  <a:lnTo>
                    <a:pt x="66113" y="77467"/>
                  </a:lnTo>
                  <a:lnTo>
                    <a:pt x="36845" y="115607"/>
                  </a:lnTo>
                  <a:lnTo>
                    <a:pt x="15590" y="158722"/>
                  </a:lnTo>
                  <a:lnTo>
                    <a:pt x="3147" y="205166"/>
                  </a:lnTo>
                  <a:lnTo>
                    <a:pt x="0" y="237085"/>
                  </a:lnTo>
                  <a:lnTo>
                    <a:pt x="0" y="245110"/>
                  </a:lnTo>
                  <a:lnTo>
                    <a:pt x="0" y="253135"/>
                  </a:lnTo>
                  <a:lnTo>
                    <a:pt x="6269" y="300802"/>
                  </a:lnTo>
                  <a:lnTo>
                    <a:pt x="21727" y="346326"/>
                  </a:lnTo>
                  <a:lnTo>
                    <a:pt x="45766" y="387952"/>
                  </a:lnTo>
                  <a:lnTo>
                    <a:pt x="77467" y="424108"/>
                  </a:lnTo>
                  <a:lnTo>
                    <a:pt x="115607" y="453376"/>
                  </a:lnTo>
                  <a:lnTo>
                    <a:pt x="158722" y="474631"/>
                  </a:lnTo>
                  <a:lnTo>
                    <a:pt x="205166" y="487074"/>
                  </a:lnTo>
                  <a:lnTo>
                    <a:pt x="237085" y="490221"/>
                  </a:lnTo>
                  <a:lnTo>
                    <a:pt x="253135" y="490221"/>
                  </a:lnTo>
                  <a:lnTo>
                    <a:pt x="300802" y="483951"/>
                  </a:lnTo>
                  <a:lnTo>
                    <a:pt x="346326" y="468494"/>
                  </a:lnTo>
                  <a:lnTo>
                    <a:pt x="387965" y="444455"/>
                  </a:lnTo>
                  <a:lnTo>
                    <a:pt x="424108" y="412754"/>
                  </a:lnTo>
                  <a:lnTo>
                    <a:pt x="453376" y="374614"/>
                  </a:lnTo>
                  <a:lnTo>
                    <a:pt x="474631" y="331498"/>
                  </a:lnTo>
                  <a:lnTo>
                    <a:pt x="487074" y="285054"/>
                  </a:lnTo>
                  <a:lnTo>
                    <a:pt x="490221" y="253135"/>
                  </a:lnTo>
                  <a:lnTo>
                    <a:pt x="490221" y="237085"/>
                  </a:lnTo>
                  <a:lnTo>
                    <a:pt x="483951" y="189419"/>
                  </a:lnTo>
                  <a:lnTo>
                    <a:pt x="468494" y="143895"/>
                  </a:lnTo>
                  <a:lnTo>
                    <a:pt x="444455" y="102256"/>
                  </a:lnTo>
                  <a:lnTo>
                    <a:pt x="412754" y="66113"/>
                  </a:lnTo>
                  <a:lnTo>
                    <a:pt x="374614" y="36845"/>
                  </a:lnTo>
                  <a:lnTo>
                    <a:pt x="331486" y="15578"/>
                  </a:lnTo>
                  <a:lnTo>
                    <a:pt x="285054" y="3147"/>
                  </a:lnTo>
                  <a:lnTo>
                    <a:pt x="261148" y="387"/>
                  </a:lnTo>
                  <a:lnTo>
                    <a:pt x="253135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4975" y="1603417"/>
              <a:ext cx="230345" cy="209622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730987" y="2097976"/>
            <a:ext cx="2258695" cy="1379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3C3838"/>
                </a:solidFill>
                <a:latin typeface="Trebuchet MS"/>
                <a:cs typeface="Trebuchet MS"/>
              </a:rPr>
              <a:t>Frontend</a:t>
            </a:r>
            <a:r>
              <a:rPr dirty="0" sz="1600" spc="14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3C3838"/>
                </a:solidFill>
                <a:latin typeface="Trebuchet MS"/>
                <a:cs typeface="Trebuchet MS"/>
              </a:rPr>
              <a:t>GStre&amp;mlit3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ct val="136600"/>
              </a:lnSpc>
              <a:spcBef>
                <a:spcPts val="530"/>
              </a:spcBef>
            </a:pP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Interactive UI</a:t>
            </a:r>
            <a:r>
              <a:rPr dirty="0" sz="1250" spc="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250" spc="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25">
                <a:solidFill>
                  <a:srgbClr val="3C3838"/>
                </a:solidFill>
                <a:latin typeface="Roboto"/>
                <a:cs typeface="Roboto"/>
              </a:rPr>
              <a:t>real-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time</a:t>
            </a:r>
            <a:r>
              <a:rPr dirty="0" sz="1250" spc="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25">
                <a:solidFill>
                  <a:srgbClr val="3C3838"/>
                </a:solidFill>
                <a:latin typeface="Roboto"/>
                <a:cs typeface="Roboto"/>
              </a:rPr>
              <a:t>LLM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interaction,</a:t>
            </a:r>
            <a:r>
              <a:rPr dirty="0" sz="1250" spc="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dynamic</a:t>
            </a:r>
            <a:r>
              <a:rPr dirty="0" sz="1250" spc="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20">
                <a:solidFill>
                  <a:srgbClr val="3C3838"/>
                </a:solidFill>
                <a:latin typeface="Roboto"/>
                <a:cs typeface="Roboto"/>
              </a:rPr>
              <a:t>data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visualization</a:t>
            </a:r>
            <a:r>
              <a:rPr dirty="0" sz="12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dirty="0" sz="12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Plotly</a:t>
            </a:r>
            <a:r>
              <a:rPr dirty="0" sz="12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25">
                <a:solidFill>
                  <a:srgbClr val="3C3838"/>
                </a:solidFill>
                <a:latin typeface="Roboto"/>
                <a:cs typeface="Roboto"/>
              </a:rPr>
              <a:t>and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Pandas,</a:t>
            </a:r>
            <a:r>
              <a:rPr dirty="0" sz="1250" spc="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REST</a:t>
            </a:r>
            <a:r>
              <a:rPr dirty="0" sz="1250" spc="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API</a:t>
            </a:r>
            <a:r>
              <a:rPr dirty="0" sz="1250" spc="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3C3838"/>
                </a:solidFill>
                <a:latin typeface="Roboto"/>
                <a:cs typeface="Roboto"/>
              </a:rPr>
              <a:t>integration.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656882" y="4112192"/>
            <a:ext cx="5665470" cy="1870710"/>
            <a:chOff x="4656882" y="4112192"/>
            <a:chExt cx="5665470" cy="1870710"/>
          </a:xfrm>
        </p:grpSpPr>
        <p:sp>
          <p:nvSpPr>
            <p:cNvPr id="16" name="object 16" descr=""/>
            <p:cNvSpPr/>
            <p:nvPr/>
          </p:nvSpPr>
          <p:spPr>
            <a:xfrm>
              <a:off x="4661645" y="4116954"/>
              <a:ext cx="5655945" cy="1861185"/>
            </a:xfrm>
            <a:custGeom>
              <a:avLst/>
              <a:gdLst/>
              <a:ahLst/>
              <a:cxnLst/>
              <a:rect l="l" t="t" r="r" b="b"/>
              <a:pathLst>
                <a:path w="5655945" h="1861185">
                  <a:moveTo>
                    <a:pt x="5606514" y="0"/>
                  </a:moveTo>
                  <a:lnTo>
                    <a:pt x="49191" y="0"/>
                  </a:lnTo>
                  <a:lnTo>
                    <a:pt x="45766" y="338"/>
                  </a:lnTo>
                  <a:lnTo>
                    <a:pt x="10796" y="20528"/>
                  </a:lnTo>
                  <a:lnTo>
                    <a:pt x="0" y="49191"/>
                  </a:lnTo>
                  <a:lnTo>
                    <a:pt x="0" y="1808372"/>
                  </a:lnTo>
                  <a:lnTo>
                    <a:pt x="0" y="1811829"/>
                  </a:lnTo>
                  <a:lnTo>
                    <a:pt x="17865" y="1848047"/>
                  </a:lnTo>
                  <a:lnTo>
                    <a:pt x="49191" y="1861025"/>
                  </a:lnTo>
                  <a:lnTo>
                    <a:pt x="5606514" y="1861025"/>
                  </a:lnTo>
                  <a:lnTo>
                    <a:pt x="5642730" y="1843157"/>
                  </a:lnTo>
                  <a:lnTo>
                    <a:pt x="5655706" y="1811829"/>
                  </a:lnTo>
                  <a:lnTo>
                    <a:pt x="5655706" y="49191"/>
                  </a:lnTo>
                  <a:lnTo>
                    <a:pt x="5637840" y="12975"/>
                  </a:lnTo>
                  <a:lnTo>
                    <a:pt x="5609927" y="338"/>
                  </a:lnTo>
                  <a:lnTo>
                    <a:pt x="5606514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661645" y="4116954"/>
              <a:ext cx="5655945" cy="1861185"/>
            </a:xfrm>
            <a:custGeom>
              <a:avLst/>
              <a:gdLst/>
              <a:ahLst/>
              <a:cxnLst/>
              <a:rect l="l" t="t" r="r" b="b"/>
              <a:pathLst>
                <a:path w="5655945" h="1861185">
                  <a:moveTo>
                    <a:pt x="0" y="1808372"/>
                  </a:moveTo>
                  <a:lnTo>
                    <a:pt x="0" y="52653"/>
                  </a:lnTo>
                  <a:lnTo>
                    <a:pt x="0" y="49191"/>
                  </a:lnTo>
                  <a:lnTo>
                    <a:pt x="338" y="45778"/>
                  </a:lnTo>
                  <a:lnTo>
                    <a:pt x="1016" y="42376"/>
                  </a:lnTo>
                  <a:lnTo>
                    <a:pt x="1682" y="38987"/>
                  </a:lnTo>
                  <a:lnTo>
                    <a:pt x="2687" y="35695"/>
                  </a:lnTo>
                  <a:lnTo>
                    <a:pt x="4006" y="32499"/>
                  </a:lnTo>
                  <a:lnTo>
                    <a:pt x="5325" y="29304"/>
                  </a:lnTo>
                  <a:lnTo>
                    <a:pt x="6947" y="26278"/>
                  </a:lnTo>
                  <a:lnTo>
                    <a:pt x="8872" y="23397"/>
                  </a:lnTo>
                  <a:lnTo>
                    <a:pt x="10796" y="20528"/>
                  </a:lnTo>
                  <a:lnTo>
                    <a:pt x="12975" y="17865"/>
                  </a:lnTo>
                  <a:lnTo>
                    <a:pt x="15420" y="15420"/>
                  </a:lnTo>
                  <a:lnTo>
                    <a:pt x="17865" y="12975"/>
                  </a:lnTo>
                  <a:lnTo>
                    <a:pt x="32499" y="4006"/>
                  </a:lnTo>
                  <a:lnTo>
                    <a:pt x="35695" y="2687"/>
                  </a:lnTo>
                  <a:lnTo>
                    <a:pt x="38987" y="1682"/>
                  </a:lnTo>
                  <a:lnTo>
                    <a:pt x="42376" y="1016"/>
                  </a:lnTo>
                  <a:lnTo>
                    <a:pt x="45766" y="338"/>
                  </a:lnTo>
                  <a:lnTo>
                    <a:pt x="49191" y="0"/>
                  </a:lnTo>
                  <a:lnTo>
                    <a:pt x="52653" y="0"/>
                  </a:lnTo>
                  <a:lnTo>
                    <a:pt x="5603052" y="0"/>
                  </a:lnTo>
                  <a:lnTo>
                    <a:pt x="5606514" y="0"/>
                  </a:lnTo>
                  <a:lnTo>
                    <a:pt x="5609927" y="338"/>
                  </a:lnTo>
                  <a:lnTo>
                    <a:pt x="5613316" y="1016"/>
                  </a:lnTo>
                  <a:lnTo>
                    <a:pt x="5616718" y="1682"/>
                  </a:lnTo>
                  <a:lnTo>
                    <a:pt x="5620010" y="2687"/>
                  </a:lnTo>
                  <a:lnTo>
                    <a:pt x="5623194" y="4006"/>
                  </a:lnTo>
                  <a:lnTo>
                    <a:pt x="5626401" y="5325"/>
                  </a:lnTo>
                  <a:lnTo>
                    <a:pt x="5629427" y="6947"/>
                  </a:lnTo>
                  <a:lnTo>
                    <a:pt x="5632296" y="8872"/>
                  </a:lnTo>
                  <a:lnTo>
                    <a:pt x="5635177" y="10796"/>
                  </a:lnTo>
                  <a:lnTo>
                    <a:pt x="5654689" y="42376"/>
                  </a:lnTo>
                  <a:lnTo>
                    <a:pt x="5655367" y="45778"/>
                  </a:lnTo>
                  <a:lnTo>
                    <a:pt x="5655706" y="49191"/>
                  </a:lnTo>
                  <a:lnTo>
                    <a:pt x="5655706" y="52653"/>
                  </a:lnTo>
                  <a:lnTo>
                    <a:pt x="5655706" y="1808372"/>
                  </a:lnTo>
                  <a:lnTo>
                    <a:pt x="5655706" y="1811829"/>
                  </a:lnTo>
                  <a:lnTo>
                    <a:pt x="5655367" y="1815252"/>
                  </a:lnTo>
                  <a:lnTo>
                    <a:pt x="5654689" y="1818642"/>
                  </a:lnTo>
                  <a:lnTo>
                    <a:pt x="5654023" y="1822031"/>
                  </a:lnTo>
                  <a:lnTo>
                    <a:pt x="5632296" y="1852150"/>
                  </a:lnTo>
                  <a:lnTo>
                    <a:pt x="5629427" y="1854070"/>
                  </a:lnTo>
                  <a:lnTo>
                    <a:pt x="5626401" y="1855692"/>
                  </a:lnTo>
                  <a:lnTo>
                    <a:pt x="5623194" y="1857016"/>
                  </a:lnTo>
                  <a:lnTo>
                    <a:pt x="5620010" y="1858339"/>
                  </a:lnTo>
                  <a:lnTo>
                    <a:pt x="5616718" y="1859338"/>
                  </a:lnTo>
                  <a:lnTo>
                    <a:pt x="5613316" y="1860013"/>
                  </a:lnTo>
                  <a:lnTo>
                    <a:pt x="5609927" y="1860690"/>
                  </a:lnTo>
                  <a:lnTo>
                    <a:pt x="5606514" y="1861025"/>
                  </a:lnTo>
                  <a:lnTo>
                    <a:pt x="5603052" y="1861025"/>
                  </a:lnTo>
                  <a:lnTo>
                    <a:pt x="52653" y="1861025"/>
                  </a:lnTo>
                  <a:lnTo>
                    <a:pt x="49191" y="1861025"/>
                  </a:lnTo>
                  <a:lnTo>
                    <a:pt x="45766" y="1860690"/>
                  </a:lnTo>
                  <a:lnTo>
                    <a:pt x="42376" y="1860013"/>
                  </a:lnTo>
                  <a:lnTo>
                    <a:pt x="38987" y="1859338"/>
                  </a:lnTo>
                  <a:lnTo>
                    <a:pt x="15420" y="1845602"/>
                  </a:lnTo>
                  <a:lnTo>
                    <a:pt x="12975" y="1843157"/>
                  </a:lnTo>
                  <a:lnTo>
                    <a:pt x="10796" y="1840500"/>
                  </a:lnTo>
                  <a:lnTo>
                    <a:pt x="8872" y="1837625"/>
                  </a:lnTo>
                  <a:lnTo>
                    <a:pt x="6947" y="1834750"/>
                  </a:lnTo>
                  <a:lnTo>
                    <a:pt x="5325" y="1831715"/>
                  </a:lnTo>
                  <a:lnTo>
                    <a:pt x="4006" y="1828519"/>
                  </a:lnTo>
                  <a:lnTo>
                    <a:pt x="2687" y="1825327"/>
                  </a:lnTo>
                  <a:lnTo>
                    <a:pt x="1682" y="1822031"/>
                  </a:lnTo>
                  <a:lnTo>
                    <a:pt x="1016" y="1818642"/>
                  </a:lnTo>
                  <a:lnTo>
                    <a:pt x="338" y="1815252"/>
                  </a:lnTo>
                  <a:lnTo>
                    <a:pt x="0" y="1811829"/>
                  </a:lnTo>
                  <a:lnTo>
                    <a:pt x="0" y="1808372"/>
                  </a:lnTo>
                  <a:close/>
                </a:path>
              </a:pathLst>
            </a:custGeom>
            <a:ln w="9078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29591" y="4284900"/>
              <a:ext cx="490220" cy="490220"/>
            </a:xfrm>
            <a:custGeom>
              <a:avLst/>
              <a:gdLst/>
              <a:ahLst/>
              <a:cxnLst/>
              <a:rect l="l" t="t" r="r" b="b"/>
              <a:pathLst>
                <a:path w="490220" h="490220">
                  <a:moveTo>
                    <a:pt x="253135" y="0"/>
                  </a:moveTo>
                  <a:lnTo>
                    <a:pt x="237085" y="0"/>
                  </a:lnTo>
                  <a:lnTo>
                    <a:pt x="229072" y="387"/>
                  </a:lnTo>
                  <a:lnTo>
                    <a:pt x="189419" y="6269"/>
                  </a:lnTo>
                  <a:lnTo>
                    <a:pt x="143895" y="21727"/>
                  </a:lnTo>
                  <a:lnTo>
                    <a:pt x="102256" y="45766"/>
                  </a:lnTo>
                  <a:lnTo>
                    <a:pt x="66113" y="77467"/>
                  </a:lnTo>
                  <a:lnTo>
                    <a:pt x="36845" y="115607"/>
                  </a:lnTo>
                  <a:lnTo>
                    <a:pt x="15590" y="158722"/>
                  </a:lnTo>
                  <a:lnTo>
                    <a:pt x="3147" y="205166"/>
                  </a:lnTo>
                  <a:lnTo>
                    <a:pt x="0" y="237085"/>
                  </a:lnTo>
                  <a:lnTo>
                    <a:pt x="0" y="245110"/>
                  </a:lnTo>
                  <a:lnTo>
                    <a:pt x="0" y="253135"/>
                  </a:lnTo>
                  <a:lnTo>
                    <a:pt x="6269" y="300802"/>
                  </a:lnTo>
                  <a:lnTo>
                    <a:pt x="21727" y="346326"/>
                  </a:lnTo>
                  <a:lnTo>
                    <a:pt x="45766" y="387952"/>
                  </a:lnTo>
                  <a:lnTo>
                    <a:pt x="77467" y="424108"/>
                  </a:lnTo>
                  <a:lnTo>
                    <a:pt x="115607" y="453376"/>
                  </a:lnTo>
                  <a:lnTo>
                    <a:pt x="158722" y="474631"/>
                  </a:lnTo>
                  <a:lnTo>
                    <a:pt x="205166" y="487074"/>
                  </a:lnTo>
                  <a:lnTo>
                    <a:pt x="237085" y="490221"/>
                  </a:lnTo>
                  <a:lnTo>
                    <a:pt x="253135" y="490221"/>
                  </a:lnTo>
                  <a:lnTo>
                    <a:pt x="300802" y="483951"/>
                  </a:lnTo>
                  <a:lnTo>
                    <a:pt x="346326" y="468494"/>
                  </a:lnTo>
                  <a:lnTo>
                    <a:pt x="387965" y="444455"/>
                  </a:lnTo>
                  <a:lnTo>
                    <a:pt x="424108" y="412754"/>
                  </a:lnTo>
                  <a:lnTo>
                    <a:pt x="453376" y="374614"/>
                  </a:lnTo>
                  <a:lnTo>
                    <a:pt x="474643" y="331498"/>
                  </a:lnTo>
                  <a:lnTo>
                    <a:pt x="487074" y="285054"/>
                  </a:lnTo>
                  <a:lnTo>
                    <a:pt x="490221" y="253135"/>
                  </a:lnTo>
                  <a:lnTo>
                    <a:pt x="490221" y="237085"/>
                  </a:lnTo>
                  <a:lnTo>
                    <a:pt x="483951" y="189419"/>
                  </a:lnTo>
                  <a:lnTo>
                    <a:pt x="468494" y="143895"/>
                  </a:lnTo>
                  <a:lnTo>
                    <a:pt x="444455" y="102256"/>
                  </a:lnTo>
                  <a:lnTo>
                    <a:pt x="412754" y="66113"/>
                  </a:lnTo>
                  <a:lnTo>
                    <a:pt x="374614" y="36845"/>
                  </a:lnTo>
                  <a:lnTo>
                    <a:pt x="331498" y="15578"/>
                  </a:lnTo>
                  <a:lnTo>
                    <a:pt x="285054" y="3147"/>
                  </a:lnTo>
                  <a:lnTo>
                    <a:pt x="261148" y="387"/>
                  </a:lnTo>
                  <a:lnTo>
                    <a:pt x="253135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8576" y="4416139"/>
              <a:ext cx="214902" cy="230395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4816891" y="4921290"/>
            <a:ext cx="5299075" cy="8616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165">
                <a:solidFill>
                  <a:srgbClr val="3C3838"/>
                </a:solidFill>
                <a:latin typeface="Trebuchet MS"/>
                <a:cs typeface="Trebuchet MS"/>
              </a:rPr>
              <a:t>LLM</a:t>
            </a:r>
            <a:r>
              <a:rPr dirty="0" sz="1600" spc="-7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3C3838"/>
                </a:solidFill>
                <a:latin typeface="Trebuchet MS"/>
                <a:cs typeface="Trebuchet MS"/>
              </a:rPr>
              <a:t>Integr&amp;tion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ct val="138200"/>
              </a:lnSpc>
              <a:spcBef>
                <a:spcPts val="505"/>
              </a:spcBef>
            </a:pPr>
            <a:r>
              <a:rPr dirty="0" sz="1250" spc="-25">
                <a:solidFill>
                  <a:srgbClr val="3C3838"/>
                </a:solidFill>
                <a:latin typeface="Roboto"/>
                <a:cs typeface="Roboto"/>
              </a:rPr>
              <a:t>Multi-</a:t>
            </a:r>
            <a:r>
              <a:rPr dirty="0" sz="1250" spc="-10">
                <a:solidFill>
                  <a:srgbClr val="3C3838"/>
                </a:solidFill>
                <a:latin typeface="Roboto"/>
                <a:cs typeface="Roboto"/>
              </a:rPr>
              <a:t>model</a:t>
            </a:r>
            <a:r>
              <a:rPr dirty="0" sz="1250" spc="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support</a:t>
            </a:r>
            <a:r>
              <a:rPr dirty="0" sz="1250" spc="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dirty="0" sz="1250" spc="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OpenAI</a:t>
            </a:r>
            <a:r>
              <a:rPr dirty="0" sz="1250" spc="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85">
                <a:solidFill>
                  <a:srgbClr val="3C3838"/>
                </a:solidFill>
                <a:latin typeface="Roboto"/>
                <a:cs typeface="Roboto"/>
              </a:rPr>
              <a:t>GPT-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4o,</a:t>
            </a:r>
            <a:r>
              <a:rPr dirty="0" sz="1250" spc="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Groq,</a:t>
            </a:r>
            <a:r>
              <a:rPr dirty="0" sz="1250" spc="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250" spc="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Ollama</a:t>
            </a:r>
            <a:r>
              <a:rPr dirty="0" sz="1250" spc="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250" spc="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3C3838"/>
                </a:solidFill>
                <a:latin typeface="Roboto"/>
                <a:cs typeface="Roboto"/>
              </a:rPr>
              <a:t>intelligent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financial</a:t>
            </a:r>
            <a:r>
              <a:rPr dirty="0" sz="1250" spc="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analysis</a:t>
            </a:r>
            <a:r>
              <a:rPr dirty="0" sz="1250" spc="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250" spc="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3C3838"/>
                </a:solidFill>
                <a:latin typeface="Roboto"/>
                <a:cs typeface="Roboto"/>
              </a:rPr>
              <a:t>query</a:t>
            </a:r>
            <a:r>
              <a:rPr dirty="0" sz="1250" spc="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3C3838"/>
                </a:solidFill>
                <a:latin typeface="Roboto"/>
                <a:cs typeface="Roboto"/>
              </a:rPr>
              <a:t>responses.</a:t>
            </a:r>
            <a:endParaRPr sz="1250">
              <a:latin typeface="Roboto"/>
              <a:cs typeface="Roboto"/>
            </a:endParaRPr>
          </a:p>
        </p:txBody>
      </p:sp>
      <p:pic>
        <p:nvPicPr>
          <p:cNvPr id="21" name="object 21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30833" y="5950202"/>
            <a:ext cx="1672200" cy="3994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5626" y="226582"/>
            <a:ext cx="4669155" cy="1022985"/>
          </a:xfrm>
          <a:prstGeom prst="rect"/>
        </p:spPr>
        <p:txBody>
          <a:bodyPr wrap="square" lIns="0" tIns="197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3150" spc="45"/>
              <a:t>B&amp;ckend</a:t>
            </a:r>
            <a:r>
              <a:rPr dirty="0" sz="3150" spc="-135"/>
              <a:t> </a:t>
            </a:r>
            <a:r>
              <a:rPr dirty="0" sz="3150" spc="-10"/>
              <a:t>Implement&amp;tion</a:t>
            </a:r>
            <a:endParaRPr sz="3150"/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550"/>
              <a:t>F&amp;stAPI</a:t>
            </a:r>
            <a:r>
              <a:rPr dirty="0" sz="1550" spc="20"/>
              <a:t> </a:t>
            </a:r>
            <a:r>
              <a:rPr dirty="0" sz="1550"/>
              <a:t>Endpoint</a:t>
            </a:r>
            <a:r>
              <a:rPr dirty="0" sz="1550" spc="25"/>
              <a:t> </a:t>
            </a:r>
            <a:r>
              <a:rPr dirty="0" sz="1550" spc="-20"/>
              <a:t>for</a:t>
            </a:r>
            <a:r>
              <a:rPr dirty="0" sz="1550" spc="-15"/>
              <a:t> </a:t>
            </a:r>
            <a:r>
              <a:rPr dirty="0" sz="1550" spc="165"/>
              <a:t>LLM</a:t>
            </a:r>
            <a:r>
              <a:rPr dirty="0" sz="1550" spc="-40"/>
              <a:t> </a:t>
            </a:r>
            <a:r>
              <a:rPr dirty="0" sz="1550" spc="-10"/>
              <a:t>An&amp;lysis</a:t>
            </a:r>
            <a:endParaRPr sz="1550"/>
          </a:p>
        </p:txBody>
      </p:sp>
      <p:sp>
        <p:nvSpPr>
          <p:cNvPr id="3" name="object 3" descr=""/>
          <p:cNvSpPr/>
          <p:nvPr/>
        </p:nvSpPr>
        <p:spPr>
          <a:xfrm>
            <a:off x="558317" y="1488871"/>
            <a:ext cx="9518650" cy="4067810"/>
          </a:xfrm>
          <a:custGeom>
            <a:avLst/>
            <a:gdLst/>
            <a:ahLst/>
            <a:cxnLst/>
            <a:rect l="l" t="t" r="r" b="b"/>
            <a:pathLst>
              <a:path w="9518650" h="4067810">
                <a:moveTo>
                  <a:pt x="9518129" y="48425"/>
                </a:moveTo>
                <a:lnTo>
                  <a:pt x="9516720" y="41300"/>
                </a:lnTo>
                <a:lnTo>
                  <a:pt x="9515284" y="37846"/>
                </a:lnTo>
                <a:lnTo>
                  <a:pt x="9512478" y="31076"/>
                </a:lnTo>
                <a:lnTo>
                  <a:pt x="9511043" y="27635"/>
                </a:lnTo>
                <a:lnTo>
                  <a:pt x="9507017" y="21590"/>
                </a:lnTo>
                <a:lnTo>
                  <a:pt x="9504388" y="18973"/>
                </a:lnTo>
                <a:lnTo>
                  <a:pt x="9501772" y="16357"/>
                </a:lnTo>
                <a:lnTo>
                  <a:pt x="9499181" y="13766"/>
                </a:lnTo>
                <a:lnTo>
                  <a:pt x="9496539" y="11125"/>
                </a:lnTo>
                <a:lnTo>
                  <a:pt x="9490507" y="7086"/>
                </a:lnTo>
                <a:lnTo>
                  <a:pt x="9487078" y="5676"/>
                </a:lnTo>
                <a:lnTo>
                  <a:pt x="9484893" y="4775"/>
                </a:lnTo>
                <a:lnTo>
                  <a:pt x="9480271" y="2857"/>
                </a:lnTo>
                <a:lnTo>
                  <a:pt x="9476829" y="1422"/>
                </a:lnTo>
                <a:lnTo>
                  <a:pt x="9469704" y="0"/>
                </a:lnTo>
                <a:lnTo>
                  <a:pt x="9465958" y="0"/>
                </a:lnTo>
                <a:lnTo>
                  <a:pt x="52171" y="0"/>
                </a:lnTo>
                <a:lnTo>
                  <a:pt x="48425" y="0"/>
                </a:lnTo>
                <a:lnTo>
                  <a:pt x="41313" y="1422"/>
                </a:lnTo>
                <a:lnTo>
                  <a:pt x="37858" y="2857"/>
                </a:lnTo>
                <a:lnTo>
                  <a:pt x="34467" y="4254"/>
                </a:lnTo>
                <a:lnTo>
                  <a:pt x="31076" y="5651"/>
                </a:lnTo>
                <a:lnTo>
                  <a:pt x="27622" y="7086"/>
                </a:lnTo>
                <a:lnTo>
                  <a:pt x="21590" y="11125"/>
                </a:lnTo>
                <a:lnTo>
                  <a:pt x="18948" y="13766"/>
                </a:lnTo>
                <a:lnTo>
                  <a:pt x="13766" y="18948"/>
                </a:lnTo>
                <a:lnTo>
                  <a:pt x="11125" y="21590"/>
                </a:lnTo>
                <a:lnTo>
                  <a:pt x="7086" y="27635"/>
                </a:lnTo>
                <a:lnTo>
                  <a:pt x="5676" y="31013"/>
                </a:lnTo>
                <a:lnTo>
                  <a:pt x="2844" y="37846"/>
                </a:lnTo>
                <a:lnTo>
                  <a:pt x="1422" y="41300"/>
                </a:lnTo>
                <a:lnTo>
                  <a:pt x="0" y="48425"/>
                </a:lnTo>
                <a:lnTo>
                  <a:pt x="0" y="52171"/>
                </a:lnTo>
                <a:lnTo>
                  <a:pt x="0" y="4011980"/>
                </a:lnTo>
                <a:lnTo>
                  <a:pt x="0" y="4015638"/>
                </a:lnTo>
                <a:lnTo>
                  <a:pt x="0" y="4019372"/>
                </a:lnTo>
                <a:lnTo>
                  <a:pt x="1422" y="4026497"/>
                </a:lnTo>
                <a:lnTo>
                  <a:pt x="2819" y="4029887"/>
                </a:lnTo>
                <a:lnTo>
                  <a:pt x="5651" y="4036733"/>
                </a:lnTo>
                <a:lnTo>
                  <a:pt x="7086" y="4040174"/>
                </a:lnTo>
                <a:lnTo>
                  <a:pt x="11125" y="4046220"/>
                </a:lnTo>
                <a:lnTo>
                  <a:pt x="13766" y="4048861"/>
                </a:lnTo>
                <a:lnTo>
                  <a:pt x="18948" y="4054043"/>
                </a:lnTo>
                <a:lnTo>
                  <a:pt x="21590" y="4056684"/>
                </a:lnTo>
                <a:lnTo>
                  <a:pt x="27622" y="4060723"/>
                </a:lnTo>
                <a:lnTo>
                  <a:pt x="31026" y="4062133"/>
                </a:lnTo>
                <a:lnTo>
                  <a:pt x="34467" y="4063555"/>
                </a:lnTo>
                <a:lnTo>
                  <a:pt x="41313" y="4066387"/>
                </a:lnTo>
                <a:lnTo>
                  <a:pt x="48425" y="4067810"/>
                </a:lnTo>
                <a:lnTo>
                  <a:pt x="52171" y="4067810"/>
                </a:lnTo>
                <a:lnTo>
                  <a:pt x="9465958" y="4067810"/>
                </a:lnTo>
                <a:lnTo>
                  <a:pt x="9469704" y="4067810"/>
                </a:lnTo>
                <a:lnTo>
                  <a:pt x="9476829" y="4066387"/>
                </a:lnTo>
                <a:lnTo>
                  <a:pt x="9484893" y="4063047"/>
                </a:lnTo>
                <a:lnTo>
                  <a:pt x="9487052" y="4062158"/>
                </a:lnTo>
                <a:lnTo>
                  <a:pt x="9490507" y="4060723"/>
                </a:lnTo>
                <a:lnTo>
                  <a:pt x="9496539" y="4056684"/>
                </a:lnTo>
                <a:lnTo>
                  <a:pt x="9499181" y="4054043"/>
                </a:lnTo>
                <a:lnTo>
                  <a:pt x="9501772" y="4051452"/>
                </a:lnTo>
                <a:lnTo>
                  <a:pt x="9504375" y="4048861"/>
                </a:lnTo>
                <a:lnTo>
                  <a:pt x="9507017" y="4046220"/>
                </a:lnTo>
                <a:lnTo>
                  <a:pt x="9511043" y="4040174"/>
                </a:lnTo>
                <a:lnTo>
                  <a:pt x="9512440" y="4036796"/>
                </a:lnTo>
                <a:lnTo>
                  <a:pt x="9514802" y="4031119"/>
                </a:lnTo>
                <a:lnTo>
                  <a:pt x="9515284" y="4029951"/>
                </a:lnTo>
                <a:lnTo>
                  <a:pt x="9516720" y="4026497"/>
                </a:lnTo>
                <a:lnTo>
                  <a:pt x="9518129" y="4019372"/>
                </a:lnTo>
                <a:lnTo>
                  <a:pt x="9518129" y="4015638"/>
                </a:lnTo>
                <a:lnTo>
                  <a:pt x="9518129" y="52171"/>
                </a:lnTo>
                <a:lnTo>
                  <a:pt x="9518129" y="48425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8740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620"/>
              </a:spcBef>
            </a:pPr>
            <a:r>
              <a:rPr dirty="0" spc="-10"/>
              <a:t>@app.post("/analyze")</a:t>
            </a:r>
          </a:p>
          <a:p>
            <a:pPr marL="329565" marR="4135754" indent="-166370">
              <a:lnSpc>
                <a:spcPct val="130300"/>
              </a:lnSpc>
              <a:spcBef>
                <a:spcPts val="70"/>
              </a:spcBef>
            </a:pPr>
            <a:r>
              <a:rPr dirty="0"/>
              <a:t>def</a:t>
            </a:r>
            <a:r>
              <a:rPr dirty="0" spc="125"/>
              <a:t> </a:t>
            </a:r>
            <a:r>
              <a:rPr dirty="0"/>
              <a:t>analyze(req:</a:t>
            </a:r>
            <a:r>
              <a:rPr dirty="0" spc="125"/>
              <a:t> </a:t>
            </a:r>
            <a:r>
              <a:rPr dirty="0"/>
              <a:t>AnalyzeRequest,</a:t>
            </a:r>
            <a:r>
              <a:rPr dirty="0" spc="125"/>
              <a:t> </a:t>
            </a:r>
            <a:r>
              <a:rPr dirty="0"/>
              <a:t>token:</a:t>
            </a:r>
            <a:r>
              <a:rPr dirty="0" spc="125"/>
              <a:t> </a:t>
            </a:r>
            <a:r>
              <a:rPr dirty="0" spc="-10"/>
              <a:t>str): </a:t>
            </a:r>
            <a:r>
              <a:rPr dirty="0"/>
              <a:t>user</a:t>
            </a:r>
            <a:r>
              <a:rPr dirty="0" spc="40"/>
              <a:t> </a:t>
            </a:r>
            <a:r>
              <a:rPr dirty="0"/>
              <a:t>=</a:t>
            </a:r>
            <a:r>
              <a:rPr dirty="0" spc="45"/>
              <a:t> </a:t>
            </a:r>
            <a:r>
              <a:rPr dirty="0" spc="-10"/>
              <a:t>USERS.get(token)</a:t>
            </a:r>
          </a:p>
          <a:p>
            <a:pPr marL="329565">
              <a:lnSpc>
                <a:spcPct val="100000"/>
              </a:lnSpc>
              <a:spcBef>
                <a:spcPts val="525"/>
              </a:spcBef>
            </a:pPr>
            <a:r>
              <a:rPr dirty="0" spc="50"/>
              <a:t>if</a:t>
            </a:r>
            <a:r>
              <a:rPr dirty="0" spc="-20"/>
              <a:t> </a:t>
            </a:r>
            <a:r>
              <a:rPr dirty="0" spc="65"/>
              <a:t>not</a:t>
            </a:r>
            <a:r>
              <a:rPr dirty="0" spc="-20"/>
              <a:t> </a:t>
            </a:r>
            <a:r>
              <a:rPr dirty="0" spc="-10"/>
              <a:t>user:</a:t>
            </a:r>
          </a:p>
          <a:p>
            <a:pPr marL="495300">
              <a:lnSpc>
                <a:spcPct val="100000"/>
              </a:lnSpc>
              <a:spcBef>
                <a:spcPts val="525"/>
              </a:spcBef>
            </a:pPr>
            <a:r>
              <a:rPr dirty="0"/>
              <a:t>raise</a:t>
            </a:r>
            <a:r>
              <a:rPr dirty="0" spc="80"/>
              <a:t> </a:t>
            </a:r>
            <a:r>
              <a:rPr dirty="0" spc="-10"/>
              <a:t>HTTPException(status_code=401)</a:t>
            </a:r>
          </a:p>
          <a:p>
            <a:pPr>
              <a:lnSpc>
                <a:spcPct val="100000"/>
              </a:lnSpc>
              <a:spcBef>
                <a:spcPts val="1105"/>
              </a:spcBef>
            </a:pPr>
          </a:p>
          <a:p>
            <a:pPr marL="329565">
              <a:lnSpc>
                <a:spcPct val="100000"/>
              </a:lnSpc>
            </a:pPr>
            <a:r>
              <a:rPr dirty="0"/>
              <a:t>context</a:t>
            </a:r>
            <a:r>
              <a:rPr dirty="0" spc="114"/>
              <a:t> </a:t>
            </a:r>
            <a:r>
              <a:rPr dirty="0"/>
              <a:t>=</a:t>
            </a:r>
            <a:r>
              <a:rPr dirty="0" spc="120"/>
              <a:t> </a:t>
            </a:r>
            <a:r>
              <a:rPr dirty="0" spc="-10"/>
              <a:t>DATA["figures_crore"]</a:t>
            </a:r>
          </a:p>
          <a:p>
            <a:pPr marL="329565">
              <a:lnSpc>
                <a:spcPct val="100000"/>
              </a:lnSpc>
              <a:spcBef>
                <a:spcPts val="455"/>
              </a:spcBef>
            </a:pPr>
            <a:r>
              <a:rPr dirty="0" spc="80"/>
              <a:t>prompt</a:t>
            </a:r>
            <a:r>
              <a:rPr dirty="0" spc="225"/>
              <a:t> </a:t>
            </a:r>
            <a:r>
              <a:rPr dirty="0"/>
              <a:t>=</a:t>
            </a:r>
            <a:r>
              <a:rPr dirty="0" spc="229"/>
              <a:t> </a:t>
            </a:r>
            <a:r>
              <a:rPr dirty="0"/>
              <a:t>f"Analyze:</a:t>
            </a:r>
            <a:r>
              <a:rPr dirty="0" spc="225"/>
              <a:t> </a:t>
            </a:r>
            <a:r>
              <a:rPr dirty="0"/>
              <a:t>{context}\nQuestion:</a:t>
            </a:r>
            <a:r>
              <a:rPr dirty="0" spc="229"/>
              <a:t> </a:t>
            </a:r>
            <a:r>
              <a:rPr dirty="0" spc="-10"/>
              <a:t>{req.question}"</a:t>
            </a:r>
          </a:p>
          <a:p>
            <a:pPr>
              <a:lnSpc>
                <a:spcPct val="100000"/>
              </a:lnSpc>
              <a:spcBef>
                <a:spcPts val="585"/>
              </a:spcBef>
            </a:pPr>
          </a:p>
          <a:p>
            <a:pPr marL="329565" marR="3534410">
              <a:lnSpc>
                <a:spcPct val="134900"/>
              </a:lnSpc>
              <a:spcBef>
                <a:spcPts val="5"/>
              </a:spcBef>
            </a:pPr>
            <a:r>
              <a:rPr dirty="0"/>
              <a:t>client</a:t>
            </a:r>
            <a:r>
              <a:rPr dirty="0" spc="75"/>
              <a:t> </a:t>
            </a:r>
            <a:r>
              <a:rPr dirty="0"/>
              <a:t>=</a:t>
            </a:r>
            <a:r>
              <a:rPr dirty="0" spc="75"/>
              <a:t> </a:t>
            </a:r>
            <a:r>
              <a:rPr dirty="0" spc="-25"/>
              <a:t>OpenAI(api_key=settings.OPENAI_API_KEY) </a:t>
            </a:r>
            <a:r>
              <a:rPr dirty="0"/>
              <a:t>resp</a:t>
            </a:r>
            <a:r>
              <a:rPr dirty="0" spc="185"/>
              <a:t> </a:t>
            </a:r>
            <a:r>
              <a:rPr dirty="0"/>
              <a:t>=</a:t>
            </a:r>
            <a:r>
              <a:rPr dirty="0" spc="185"/>
              <a:t> </a:t>
            </a:r>
            <a:r>
              <a:rPr dirty="0" spc="-10"/>
              <a:t>client.chat.completions.create(</a:t>
            </a:r>
          </a:p>
          <a:p>
            <a:pPr marL="495300">
              <a:lnSpc>
                <a:spcPct val="100000"/>
              </a:lnSpc>
              <a:spcBef>
                <a:spcPts val="520"/>
              </a:spcBef>
            </a:pPr>
            <a:r>
              <a:rPr dirty="0"/>
              <a:t>model="gpt-4o-</a:t>
            </a:r>
            <a:r>
              <a:rPr dirty="0" spc="-10"/>
              <a:t>mini",</a:t>
            </a:r>
          </a:p>
          <a:p>
            <a:pPr marL="495300">
              <a:lnSpc>
                <a:spcPct val="100000"/>
              </a:lnSpc>
              <a:spcBef>
                <a:spcPts val="455"/>
              </a:spcBef>
            </a:pPr>
            <a:r>
              <a:rPr dirty="0" spc="20"/>
              <a:t>messages=[{"role":</a:t>
            </a:r>
            <a:r>
              <a:rPr dirty="0" spc="95"/>
              <a:t> </a:t>
            </a:r>
            <a:r>
              <a:rPr dirty="0" spc="20"/>
              <a:t>"user",</a:t>
            </a:r>
            <a:r>
              <a:rPr dirty="0" spc="100"/>
              <a:t> </a:t>
            </a:r>
            <a:r>
              <a:rPr dirty="0" spc="20"/>
              <a:t>"content":</a:t>
            </a:r>
            <a:r>
              <a:rPr dirty="0" spc="95"/>
              <a:t> </a:t>
            </a:r>
            <a:r>
              <a:rPr dirty="0" spc="60"/>
              <a:t>prompt}]</a:t>
            </a:r>
          </a:p>
          <a:p>
            <a:pPr marL="329565">
              <a:lnSpc>
                <a:spcPct val="100000"/>
              </a:lnSpc>
              <a:spcBef>
                <a:spcPts val="525"/>
              </a:spcBef>
            </a:pPr>
            <a:r>
              <a:rPr dirty="0" spc="-50"/>
              <a:t>)</a:t>
            </a:r>
          </a:p>
          <a:p>
            <a:pPr marL="329565">
              <a:lnSpc>
                <a:spcPct val="100000"/>
              </a:lnSpc>
              <a:spcBef>
                <a:spcPts val="525"/>
              </a:spcBef>
            </a:pPr>
            <a:r>
              <a:rPr dirty="0" spc="65"/>
              <a:t>return</a:t>
            </a:r>
            <a:r>
              <a:rPr dirty="0" spc="204"/>
              <a:t> </a:t>
            </a:r>
            <a:r>
              <a:rPr dirty="0" spc="10"/>
              <a:t>{"answer":</a:t>
            </a:r>
            <a:r>
              <a:rPr dirty="0" spc="204"/>
              <a:t> </a:t>
            </a:r>
            <a:r>
              <a:rPr dirty="0" spc="-10"/>
              <a:t>resp.choices[0].message.content}</a:t>
            </a:r>
          </a:p>
          <a:p>
            <a:pPr>
              <a:lnSpc>
                <a:spcPct val="100000"/>
              </a:lnSpc>
              <a:spcBef>
                <a:spcPts val="1315"/>
              </a:spcBef>
            </a:pPr>
          </a:p>
          <a:p>
            <a:pPr marL="12700">
              <a:lnSpc>
                <a:spcPct val="100000"/>
              </a:lnSpc>
            </a:pPr>
            <a:r>
              <a:rPr dirty="0">
                <a:latin typeface="Roboto"/>
                <a:cs typeface="Roboto"/>
              </a:rPr>
              <a:t>The</a:t>
            </a:r>
            <a:r>
              <a:rPr dirty="0" spc="-25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backend</a:t>
            </a:r>
            <a:r>
              <a:rPr dirty="0" spc="-25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exposes</a:t>
            </a:r>
            <a:r>
              <a:rPr dirty="0" spc="-2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secure</a:t>
            </a:r>
            <a:r>
              <a:rPr dirty="0" spc="-25">
                <a:latin typeface="Roboto"/>
                <a:cs typeface="Roboto"/>
              </a:rPr>
              <a:t> </a:t>
            </a:r>
            <a:r>
              <a:rPr dirty="0" spc="-10">
                <a:latin typeface="Roboto"/>
                <a:cs typeface="Roboto"/>
              </a:rPr>
              <a:t>endpoints</a:t>
            </a:r>
            <a:r>
              <a:rPr dirty="0" spc="-25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for</a:t>
            </a:r>
            <a:r>
              <a:rPr dirty="0" spc="-20">
                <a:latin typeface="Roboto"/>
                <a:cs typeface="Roboto"/>
              </a:rPr>
              <a:t> </a:t>
            </a:r>
            <a:r>
              <a:rPr dirty="0" spc="-10">
                <a:latin typeface="Roboto"/>
                <a:cs typeface="Roboto"/>
              </a:rPr>
              <a:t>authentication,</a:t>
            </a:r>
            <a:r>
              <a:rPr dirty="0" spc="-25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data</a:t>
            </a:r>
            <a:r>
              <a:rPr dirty="0" spc="-25">
                <a:latin typeface="Roboto"/>
                <a:cs typeface="Roboto"/>
              </a:rPr>
              <a:t> </a:t>
            </a:r>
            <a:r>
              <a:rPr dirty="0" spc="-10">
                <a:latin typeface="Roboto"/>
                <a:cs typeface="Roboto"/>
              </a:rPr>
              <a:t>retrieval,</a:t>
            </a:r>
            <a:r>
              <a:rPr dirty="0" spc="-20">
                <a:latin typeface="Roboto"/>
                <a:cs typeface="Roboto"/>
              </a:rPr>
              <a:t> </a:t>
            </a:r>
            <a:r>
              <a:rPr dirty="0">
                <a:latin typeface="Roboto"/>
                <a:cs typeface="Roboto"/>
              </a:rPr>
              <a:t>and</a:t>
            </a:r>
            <a:r>
              <a:rPr dirty="0" spc="-25">
                <a:latin typeface="Roboto"/>
                <a:cs typeface="Roboto"/>
              </a:rPr>
              <a:t> </a:t>
            </a:r>
            <a:r>
              <a:rPr dirty="0" spc="-40">
                <a:latin typeface="Roboto"/>
                <a:cs typeface="Roboto"/>
              </a:rPr>
              <a:t>LLM-</a:t>
            </a:r>
            <a:r>
              <a:rPr dirty="0" spc="-20">
                <a:latin typeface="Roboto"/>
                <a:cs typeface="Roboto"/>
              </a:rPr>
              <a:t>based</a:t>
            </a:r>
            <a:r>
              <a:rPr dirty="0" spc="-25">
                <a:latin typeface="Roboto"/>
                <a:cs typeface="Roboto"/>
              </a:rPr>
              <a:t> </a:t>
            </a:r>
            <a:r>
              <a:rPr dirty="0" spc="-10">
                <a:latin typeface="Roboto"/>
                <a:cs typeface="Roboto"/>
              </a:rPr>
              <a:t>financial</a:t>
            </a:r>
            <a:r>
              <a:rPr dirty="0" spc="-20">
                <a:latin typeface="Roboto"/>
                <a:cs typeface="Roboto"/>
              </a:rPr>
              <a:t> </a:t>
            </a:r>
            <a:r>
              <a:rPr dirty="0" spc="-10">
                <a:latin typeface="Roboto"/>
                <a:cs typeface="Roboto"/>
              </a:rPr>
              <a:t>analysis.</a:t>
            </a:r>
          </a:p>
        </p:txBody>
      </p:sp>
      <p:pic>
        <p:nvPicPr>
          <p:cNvPr id="5" name="object 5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3720" y="5961858"/>
            <a:ext cx="1632439" cy="3899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4792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25"/>
              </a:spcBef>
            </a:pPr>
            <a:r>
              <a:rPr dirty="0"/>
              <a:t>Retrieval-</a:t>
            </a:r>
            <a:r>
              <a:rPr dirty="0" spc="170"/>
              <a:t>Augmented</a:t>
            </a:r>
            <a:r>
              <a:rPr dirty="0" spc="140"/>
              <a:t> </a:t>
            </a:r>
            <a:r>
              <a:rPr dirty="0"/>
              <a:t>Generation</a:t>
            </a:r>
            <a:r>
              <a:rPr dirty="0" spc="145"/>
              <a:t> </a:t>
            </a:r>
            <a:r>
              <a:rPr dirty="0" spc="-10"/>
              <a:t>(RAG)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1801812"/>
            <a:ext cx="4388485" cy="2217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>
                <a:solidFill>
                  <a:srgbClr val="1B1B26"/>
                </a:solidFill>
                <a:latin typeface="Trebuchet MS"/>
                <a:cs typeface="Trebuchet MS"/>
              </a:rPr>
              <a:t>RAG</a:t>
            </a:r>
            <a:r>
              <a:rPr dirty="0" sz="1650" spc="-7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1B1B26"/>
                </a:solidFill>
                <a:latin typeface="Trebuchet MS"/>
                <a:cs typeface="Trebuchet MS"/>
              </a:rPr>
              <a:t>Pipeline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Reliance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Consolidated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Annual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Report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PDF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(2023–24)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was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processed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into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structured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text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chunks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50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embedded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into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FF6BD8"/>
                </a:solidFill>
                <a:latin typeface="Roboto"/>
                <a:cs typeface="Roboto"/>
              </a:rPr>
              <a:t>FAISS</a:t>
            </a:r>
            <a:r>
              <a:rPr dirty="0" sz="1350" spc="-40">
                <a:solidFill>
                  <a:srgbClr val="FF6B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6BD8"/>
                </a:solidFill>
                <a:latin typeface="Roboto"/>
                <a:cs typeface="Roboto"/>
              </a:rPr>
              <a:t>vector</a:t>
            </a:r>
            <a:r>
              <a:rPr dirty="0" sz="1350" spc="-40">
                <a:solidFill>
                  <a:srgbClr val="FF6BD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FF6BD8"/>
                </a:solidFill>
                <a:latin typeface="Roboto"/>
                <a:cs typeface="Roboto"/>
              </a:rPr>
              <a:t>database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.</a:t>
            </a:r>
            <a:endParaRPr sz="1350">
              <a:latin typeface="Roboto"/>
              <a:cs typeface="Roboto"/>
            </a:endParaRPr>
          </a:p>
          <a:p>
            <a:pPr marL="12700" marR="235585">
              <a:lnSpc>
                <a:spcPct val="131900"/>
              </a:lnSpc>
              <a:spcBef>
                <a:spcPts val="1240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During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queries,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relevant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chunks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are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retrieved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and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appended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LLM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prompts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accurate,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context-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aware responses.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00662" y="1838324"/>
            <a:ext cx="5439410" cy="3553460"/>
          </a:xfrm>
          <a:custGeom>
            <a:avLst/>
            <a:gdLst/>
            <a:ahLst/>
            <a:cxnLst/>
            <a:rect l="l" t="t" r="r" b="b"/>
            <a:pathLst>
              <a:path w="5439409" h="3553460">
                <a:moveTo>
                  <a:pt x="5438787" y="56070"/>
                </a:moveTo>
                <a:lnTo>
                  <a:pt x="5438775" y="55943"/>
                </a:lnTo>
                <a:lnTo>
                  <a:pt x="5438775" y="52070"/>
                </a:lnTo>
                <a:lnTo>
                  <a:pt x="5437251" y="44411"/>
                </a:lnTo>
                <a:lnTo>
                  <a:pt x="5435778" y="40894"/>
                </a:lnTo>
                <a:lnTo>
                  <a:pt x="5435727" y="40678"/>
                </a:lnTo>
                <a:lnTo>
                  <a:pt x="5432691" y="33401"/>
                </a:lnTo>
                <a:lnTo>
                  <a:pt x="5431155" y="29705"/>
                </a:lnTo>
                <a:lnTo>
                  <a:pt x="5426824" y="23215"/>
                </a:lnTo>
                <a:lnTo>
                  <a:pt x="5424170" y="20574"/>
                </a:lnTo>
                <a:lnTo>
                  <a:pt x="5424005" y="20358"/>
                </a:lnTo>
                <a:lnTo>
                  <a:pt x="5418404" y="14795"/>
                </a:lnTo>
                <a:lnTo>
                  <a:pt x="5415572" y="11963"/>
                </a:lnTo>
                <a:lnTo>
                  <a:pt x="5409082" y="7620"/>
                </a:lnTo>
                <a:lnTo>
                  <a:pt x="5405552" y="6172"/>
                </a:lnTo>
                <a:lnTo>
                  <a:pt x="5405386" y="6070"/>
                </a:lnTo>
                <a:lnTo>
                  <a:pt x="5398084" y="3060"/>
                </a:lnTo>
                <a:lnTo>
                  <a:pt x="5394376" y="1536"/>
                </a:lnTo>
                <a:lnTo>
                  <a:pt x="5386730" y="12"/>
                </a:lnTo>
                <a:lnTo>
                  <a:pt x="5382844" y="12"/>
                </a:lnTo>
                <a:lnTo>
                  <a:pt x="5382717" y="0"/>
                </a:lnTo>
                <a:lnTo>
                  <a:pt x="56070" y="0"/>
                </a:lnTo>
                <a:lnTo>
                  <a:pt x="55930" y="12"/>
                </a:lnTo>
                <a:lnTo>
                  <a:pt x="52044" y="12"/>
                </a:lnTo>
                <a:lnTo>
                  <a:pt x="44399" y="1536"/>
                </a:lnTo>
                <a:lnTo>
                  <a:pt x="40741" y="3048"/>
                </a:lnTo>
                <a:lnTo>
                  <a:pt x="33413" y="6070"/>
                </a:lnTo>
                <a:lnTo>
                  <a:pt x="29692" y="7620"/>
                </a:lnTo>
                <a:lnTo>
                  <a:pt x="23202" y="11963"/>
                </a:lnTo>
                <a:lnTo>
                  <a:pt x="20370" y="14795"/>
                </a:lnTo>
                <a:lnTo>
                  <a:pt x="14795" y="20358"/>
                </a:lnTo>
                <a:lnTo>
                  <a:pt x="11950" y="23215"/>
                </a:lnTo>
                <a:lnTo>
                  <a:pt x="7607" y="29705"/>
                </a:lnTo>
                <a:lnTo>
                  <a:pt x="6083" y="33401"/>
                </a:lnTo>
                <a:lnTo>
                  <a:pt x="3073" y="40678"/>
                </a:lnTo>
                <a:lnTo>
                  <a:pt x="1524" y="44411"/>
                </a:lnTo>
                <a:lnTo>
                  <a:pt x="0" y="52070"/>
                </a:lnTo>
                <a:lnTo>
                  <a:pt x="0" y="3500780"/>
                </a:lnTo>
                <a:lnTo>
                  <a:pt x="1524" y="3508438"/>
                </a:lnTo>
                <a:lnTo>
                  <a:pt x="23202" y="3540887"/>
                </a:lnTo>
                <a:lnTo>
                  <a:pt x="52044" y="3552837"/>
                </a:lnTo>
                <a:lnTo>
                  <a:pt x="56070" y="3552837"/>
                </a:lnTo>
                <a:lnTo>
                  <a:pt x="5382717" y="3552837"/>
                </a:lnTo>
                <a:lnTo>
                  <a:pt x="5386730" y="3552837"/>
                </a:lnTo>
                <a:lnTo>
                  <a:pt x="5394376" y="3551313"/>
                </a:lnTo>
                <a:lnTo>
                  <a:pt x="5398071" y="3549789"/>
                </a:lnTo>
                <a:lnTo>
                  <a:pt x="5405386" y="3546754"/>
                </a:lnTo>
                <a:lnTo>
                  <a:pt x="5409082" y="3545217"/>
                </a:lnTo>
                <a:lnTo>
                  <a:pt x="5415572" y="3540887"/>
                </a:lnTo>
                <a:lnTo>
                  <a:pt x="5418404" y="3538042"/>
                </a:lnTo>
                <a:lnTo>
                  <a:pt x="5420080" y="3536378"/>
                </a:lnTo>
                <a:lnTo>
                  <a:pt x="5424005" y="3532467"/>
                </a:lnTo>
                <a:lnTo>
                  <a:pt x="5426824" y="3529622"/>
                </a:lnTo>
                <a:lnTo>
                  <a:pt x="5431155" y="3523132"/>
                </a:lnTo>
                <a:lnTo>
                  <a:pt x="5432691" y="3519424"/>
                </a:lnTo>
                <a:lnTo>
                  <a:pt x="5433022" y="3518636"/>
                </a:lnTo>
                <a:lnTo>
                  <a:pt x="5435727" y="3512147"/>
                </a:lnTo>
                <a:lnTo>
                  <a:pt x="5437251" y="3508438"/>
                </a:lnTo>
                <a:lnTo>
                  <a:pt x="5438775" y="3500780"/>
                </a:lnTo>
                <a:lnTo>
                  <a:pt x="5438775" y="3496907"/>
                </a:lnTo>
                <a:lnTo>
                  <a:pt x="5438787" y="3496767"/>
                </a:lnTo>
                <a:lnTo>
                  <a:pt x="5438787" y="5607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564085" y="4178300"/>
            <a:ext cx="508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100">
                <a:solidFill>
                  <a:srgbClr val="3C3838"/>
                </a:solidFill>
                <a:latin typeface="Arial MT"/>
                <a:cs typeface="Arial MT"/>
              </a:rPr>
              <a:t>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51385" y="1917064"/>
            <a:ext cx="4307205" cy="3321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 marR="1402080" indent="-45085">
              <a:lnSpc>
                <a:spcPct val="134300"/>
              </a:lnSpc>
              <a:spcBef>
                <a:spcPts val="100"/>
              </a:spcBef>
            </a:pPr>
            <a:r>
              <a:rPr dirty="0" sz="1350" spc="85">
                <a:solidFill>
                  <a:srgbClr val="3C3838"/>
                </a:solidFill>
                <a:latin typeface="Arial MT"/>
                <a:cs typeface="Arial MT"/>
              </a:rPr>
              <a:t>from</a:t>
            </a:r>
            <a:r>
              <a:rPr dirty="0" sz="1350" spc="6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20">
                <a:solidFill>
                  <a:srgbClr val="3C3838"/>
                </a:solidFill>
                <a:latin typeface="Arial MT"/>
                <a:cs typeface="Arial MT"/>
              </a:rPr>
              <a:t>langchain.text_splitter</a:t>
            </a:r>
            <a:r>
              <a:rPr dirty="0" sz="1350" spc="6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75">
                <a:solidFill>
                  <a:srgbClr val="3C3838"/>
                </a:solidFill>
                <a:latin typeface="Arial MT"/>
                <a:cs typeface="Arial MT"/>
              </a:rPr>
              <a:t>import</a:t>
            </a:r>
            <a:r>
              <a:rPr dirty="0" sz="1350" spc="70">
                <a:solidFill>
                  <a:srgbClr val="3C3838"/>
                </a:solidFill>
                <a:latin typeface="Arial MT"/>
                <a:cs typeface="Arial MT"/>
              </a:rPr>
              <a:t> \ </a:t>
            </a:r>
            <a:r>
              <a:rPr dirty="0" sz="1350" spc="-10">
                <a:solidFill>
                  <a:srgbClr val="3C3838"/>
                </a:solidFill>
                <a:latin typeface="Arial MT"/>
                <a:cs typeface="Arial MT"/>
              </a:rPr>
              <a:t>RecursiveCharacterTextSplitter</a:t>
            </a:r>
            <a:endParaRPr sz="1350">
              <a:latin typeface="Arial MT"/>
              <a:cs typeface="Arial MT"/>
            </a:endParaRPr>
          </a:p>
          <a:p>
            <a:pPr marL="57150" marR="377825" indent="-45085">
              <a:lnSpc>
                <a:spcPts val="2180"/>
              </a:lnSpc>
              <a:spcBef>
                <a:spcPts val="85"/>
              </a:spcBef>
            </a:pPr>
            <a:r>
              <a:rPr dirty="0" sz="1350" spc="85">
                <a:solidFill>
                  <a:srgbClr val="3C3838"/>
                </a:solidFill>
                <a:latin typeface="Arial MT"/>
                <a:cs typeface="Arial MT"/>
              </a:rPr>
              <a:t>from</a:t>
            </a:r>
            <a:r>
              <a:rPr dirty="0" sz="1350" spc="90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20">
                <a:solidFill>
                  <a:srgbClr val="3C3838"/>
                </a:solidFill>
                <a:latin typeface="Arial MT"/>
                <a:cs typeface="Arial MT"/>
              </a:rPr>
              <a:t>langchain_community.embeddings</a:t>
            </a:r>
            <a:r>
              <a:rPr dirty="0" sz="1350" spc="9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75">
                <a:solidFill>
                  <a:srgbClr val="3C3838"/>
                </a:solidFill>
                <a:latin typeface="Arial MT"/>
                <a:cs typeface="Arial MT"/>
              </a:rPr>
              <a:t>import</a:t>
            </a:r>
            <a:r>
              <a:rPr dirty="0" sz="1350" spc="9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70">
                <a:solidFill>
                  <a:srgbClr val="3C3838"/>
                </a:solidFill>
                <a:latin typeface="Arial MT"/>
                <a:cs typeface="Arial MT"/>
              </a:rPr>
              <a:t>\ </a:t>
            </a:r>
            <a:r>
              <a:rPr dirty="0" sz="1350" spc="-10">
                <a:solidFill>
                  <a:srgbClr val="3C3838"/>
                </a:solidFill>
                <a:latin typeface="Arial MT"/>
                <a:cs typeface="Arial MT"/>
              </a:rPr>
              <a:t>HuggingFaceEmbeddings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350" spc="85">
                <a:solidFill>
                  <a:srgbClr val="3C3838"/>
                </a:solidFill>
                <a:latin typeface="Arial MT"/>
                <a:cs typeface="Arial MT"/>
              </a:rPr>
              <a:t>from</a:t>
            </a:r>
            <a:r>
              <a:rPr dirty="0" sz="1350" spc="80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20">
                <a:solidFill>
                  <a:srgbClr val="3C3838"/>
                </a:solidFill>
                <a:latin typeface="Arial MT"/>
                <a:cs typeface="Arial MT"/>
              </a:rPr>
              <a:t>langchain_community.vectorstores</a:t>
            </a:r>
            <a:r>
              <a:rPr dirty="0" sz="1350" spc="80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75">
                <a:solidFill>
                  <a:srgbClr val="3C3838"/>
                </a:solidFill>
                <a:latin typeface="Arial MT"/>
                <a:cs typeface="Arial MT"/>
              </a:rPr>
              <a:t>import</a:t>
            </a:r>
            <a:r>
              <a:rPr dirty="0" sz="1350" spc="80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-40">
                <a:solidFill>
                  <a:srgbClr val="3C3838"/>
                </a:solidFill>
                <a:latin typeface="Arial MT"/>
                <a:cs typeface="Arial MT"/>
              </a:rPr>
              <a:t>FAISS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350">
              <a:latin typeface="Arial MT"/>
              <a:cs typeface="Arial MT"/>
            </a:endParaRPr>
          </a:p>
          <a:p>
            <a:pPr marL="57150" marR="637540" indent="-45085">
              <a:lnSpc>
                <a:spcPct val="129600"/>
              </a:lnSpc>
            </a:pPr>
            <a:r>
              <a:rPr dirty="0" sz="1350" spc="20">
                <a:solidFill>
                  <a:srgbClr val="3C3838"/>
                </a:solidFill>
                <a:latin typeface="Arial MT"/>
                <a:cs typeface="Arial MT"/>
              </a:rPr>
              <a:t>text_splitter</a:t>
            </a:r>
            <a:r>
              <a:rPr dirty="0" sz="1350" spc="7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20">
                <a:solidFill>
                  <a:srgbClr val="3C3838"/>
                </a:solidFill>
                <a:latin typeface="Arial MT"/>
                <a:cs typeface="Arial MT"/>
              </a:rPr>
              <a:t>=</a:t>
            </a:r>
            <a:r>
              <a:rPr dirty="0" sz="1350" spc="80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Arial MT"/>
                <a:cs typeface="Arial MT"/>
              </a:rPr>
              <a:t>RecursiveCharacterTextSplitter( </a:t>
            </a:r>
            <a:r>
              <a:rPr dirty="0" sz="1350">
                <a:solidFill>
                  <a:srgbClr val="3C3838"/>
                </a:solidFill>
                <a:latin typeface="Arial MT"/>
                <a:cs typeface="Arial MT"/>
              </a:rPr>
              <a:t>chunk_size=1000,</a:t>
            </a:r>
            <a:r>
              <a:rPr dirty="0" sz="1350" spc="1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Arial MT"/>
                <a:cs typeface="Arial MT"/>
              </a:rPr>
              <a:t>chunk_overlap=200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350">
              <a:latin typeface="Arial MT"/>
              <a:cs typeface="Arial MT"/>
            </a:endParaRPr>
          </a:p>
          <a:p>
            <a:pPr marL="12700" marR="937894">
              <a:lnSpc>
                <a:spcPct val="134300"/>
              </a:lnSpc>
              <a:spcBef>
                <a:spcPts val="5"/>
              </a:spcBef>
            </a:pPr>
            <a:r>
              <a:rPr dirty="0" sz="1350">
                <a:solidFill>
                  <a:srgbClr val="3C3838"/>
                </a:solidFill>
                <a:latin typeface="Arial MT"/>
                <a:cs typeface="Arial MT"/>
              </a:rPr>
              <a:t>texts</a:t>
            </a:r>
            <a:r>
              <a:rPr dirty="0" sz="1350" spc="6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C3838"/>
                </a:solidFill>
                <a:latin typeface="Arial MT"/>
                <a:cs typeface="Arial MT"/>
              </a:rPr>
              <a:t>=</a:t>
            </a:r>
            <a:r>
              <a:rPr dirty="0" sz="1350" spc="6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Arial MT"/>
                <a:cs typeface="Arial MT"/>
              </a:rPr>
              <a:t>text_splitter.split_documents(docs)</a:t>
            </a:r>
            <a:r>
              <a:rPr dirty="0" sz="1350" spc="500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10">
                <a:solidFill>
                  <a:srgbClr val="3C3838"/>
                </a:solidFill>
                <a:latin typeface="Arial MT"/>
                <a:cs typeface="Arial MT"/>
              </a:rPr>
              <a:t>embeddings</a:t>
            </a:r>
            <a:r>
              <a:rPr dirty="0" sz="1350" spc="9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10">
                <a:solidFill>
                  <a:srgbClr val="3C3838"/>
                </a:solidFill>
                <a:latin typeface="Arial MT"/>
                <a:cs typeface="Arial MT"/>
              </a:rPr>
              <a:t>=</a:t>
            </a:r>
            <a:r>
              <a:rPr dirty="0" sz="1350" spc="9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Arial MT"/>
                <a:cs typeface="Arial MT"/>
              </a:rPr>
              <a:t>HuggingFaceEmbeddings()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75">
                <a:solidFill>
                  <a:srgbClr val="3C3838"/>
                </a:solidFill>
                <a:latin typeface="Arial MT"/>
                <a:cs typeface="Arial MT"/>
              </a:rPr>
              <a:t>db</a:t>
            </a:r>
            <a:r>
              <a:rPr dirty="0" sz="1350" spc="4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C3838"/>
                </a:solidFill>
                <a:latin typeface="Arial MT"/>
                <a:cs typeface="Arial MT"/>
              </a:rPr>
              <a:t>=</a:t>
            </a:r>
            <a:r>
              <a:rPr dirty="0" sz="1350" spc="4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C3838"/>
                </a:solidFill>
                <a:latin typeface="Arial MT"/>
                <a:cs typeface="Arial MT"/>
              </a:rPr>
              <a:t>FAISS.from_documents(texts,</a:t>
            </a:r>
            <a:r>
              <a:rPr dirty="0" sz="1350" spc="45">
                <a:solidFill>
                  <a:srgbClr val="3C3838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Arial MT"/>
                <a:cs typeface="Arial MT"/>
              </a:rPr>
              <a:t>embeddings)</a:t>
            </a:r>
            <a:endParaRPr sz="1350">
              <a:latin typeface="Arial MT"/>
              <a:cs typeface="Arial MT"/>
            </a:endParaRPr>
          </a:p>
        </p:txBody>
      </p:sp>
      <p:pic>
        <p:nvPicPr>
          <p:cNvPr id="7" name="object 7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9092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25"/>
              </a:spcBef>
            </a:pPr>
            <a:r>
              <a:rPr dirty="0" spc="140"/>
              <a:t>Challenges</a:t>
            </a:r>
            <a:r>
              <a:rPr dirty="0" spc="-130"/>
              <a:t> </a:t>
            </a:r>
            <a:r>
              <a:rPr dirty="0" spc="145"/>
              <a:t>and</a:t>
            </a:r>
            <a:r>
              <a:rPr dirty="0" spc="-125"/>
              <a:t> </a:t>
            </a:r>
            <a:r>
              <a:rPr dirty="0" spc="90"/>
              <a:t>Solutions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94717" y="1842491"/>
            <a:ext cx="10240645" cy="696595"/>
            <a:chOff x="594717" y="1842491"/>
            <a:chExt cx="10240645" cy="696595"/>
          </a:xfrm>
        </p:grpSpPr>
        <p:sp>
          <p:nvSpPr>
            <p:cNvPr id="4" name="object 4" descr=""/>
            <p:cNvSpPr/>
            <p:nvPr/>
          </p:nvSpPr>
          <p:spPr>
            <a:xfrm>
              <a:off x="600075" y="1847849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4943475" y="685800"/>
                  </a:lnTo>
                  <a:lnTo>
                    <a:pt x="5114925" y="342900"/>
                  </a:lnTo>
                  <a:lnTo>
                    <a:pt x="4943475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0075" y="1847849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5114925" y="342900"/>
                  </a:lnTo>
                  <a:lnTo>
                    <a:pt x="4943475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4943475" y="0"/>
                  </a:lnTo>
                  <a:close/>
                </a:path>
              </a:pathLst>
            </a:custGeom>
            <a:ln w="10715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3246" y="2078074"/>
              <a:ext cx="268582" cy="23487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15000" y="1847849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4943475" y="685800"/>
                  </a:lnTo>
                  <a:lnTo>
                    <a:pt x="5114925" y="342900"/>
                  </a:lnTo>
                  <a:lnTo>
                    <a:pt x="4943475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15000" y="1847849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5114925" y="342900"/>
                  </a:lnTo>
                  <a:lnTo>
                    <a:pt x="4943475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4943475" y="0"/>
                  </a:lnTo>
                  <a:close/>
                </a:path>
              </a:pathLst>
            </a:custGeom>
            <a:ln w="10715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143671" y="2072131"/>
              <a:ext cx="257810" cy="247015"/>
            </a:xfrm>
            <a:custGeom>
              <a:avLst/>
              <a:gdLst/>
              <a:ahLst/>
              <a:cxnLst/>
              <a:rect l="l" t="t" r="r" b="b"/>
              <a:pathLst>
                <a:path w="257809" h="247014">
                  <a:moveTo>
                    <a:pt x="75323" y="243611"/>
                  </a:moveTo>
                  <a:lnTo>
                    <a:pt x="39146" y="246542"/>
                  </a:lnTo>
                  <a:lnTo>
                    <a:pt x="16929" y="246583"/>
                  </a:lnTo>
                </a:path>
                <a:path w="257809" h="247014">
                  <a:moveTo>
                    <a:pt x="253199" y="75780"/>
                  </a:moveTo>
                  <a:lnTo>
                    <a:pt x="241223" y="80797"/>
                  </a:lnTo>
                  <a:lnTo>
                    <a:pt x="237401" y="80835"/>
                  </a:lnTo>
                </a:path>
                <a:path w="257809" h="247014">
                  <a:moveTo>
                    <a:pt x="75196" y="3378"/>
                  </a:moveTo>
                  <a:lnTo>
                    <a:pt x="38682" y="325"/>
                  </a:lnTo>
                  <a:lnTo>
                    <a:pt x="16929" y="330"/>
                  </a:lnTo>
                </a:path>
                <a:path w="257809" h="247014">
                  <a:moveTo>
                    <a:pt x="217487" y="185000"/>
                  </a:moveTo>
                  <a:lnTo>
                    <a:pt x="204038" y="199605"/>
                  </a:lnTo>
                  <a:lnTo>
                    <a:pt x="204038" y="203111"/>
                  </a:lnTo>
                </a:path>
                <a:path w="257809" h="247014">
                  <a:moveTo>
                    <a:pt x="204089" y="238836"/>
                  </a:moveTo>
                  <a:lnTo>
                    <a:pt x="223845" y="246468"/>
                  </a:lnTo>
                  <a:lnTo>
                    <a:pt x="239585" y="246430"/>
                  </a:lnTo>
                  <a:lnTo>
                    <a:pt x="249834" y="235381"/>
                  </a:lnTo>
                  <a:lnTo>
                    <a:pt x="249936" y="233972"/>
                  </a:lnTo>
                </a:path>
                <a:path w="257809" h="247014">
                  <a:moveTo>
                    <a:pt x="249809" y="196100"/>
                  </a:moveTo>
                  <a:lnTo>
                    <a:pt x="249555" y="193979"/>
                  </a:lnTo>
                  <a:lnTo>
                    <a:pt x="248869" y="191782"/>
                  </a:lnTo>
                  <a:lnTo>
                    <a:pt x="246570" y="188010"/>
                  </a:lnTo>
                </a:path>
                <a:path w="257809" h="247014">
                  <a:moveTo>
                    <a:pt x="406" y="182791"/>
                  </a:moveTo>
                  <a:lnTo>
                    <a:pt x="17640" y="166243"/>
                  </a:lnTo>
                  <a:lnTo>
                    <a:pt x="22542" y="166217"/>
                  </a:lnTo>
                </a:path>
                <a:path w="257809" h="247014">
                  <a:moveTo>
                    <a:pt x="64617" y="166166"/>
                  </a:moveTo>
                  <a:lnTo>
                    <a:pt x="81407" y="183819"/>
                  </a:lnTo>
                  <a:lnTo>
                    <a:pt x="81419" y="188036"/>
                  </a:lnTo>
                </a:path>
                <a:path w="257809" h="247014">
                  <a:moveTo>
                    <a:pt x="81343" y="231165"/>
                  </a:moveTo>
                  <a:lnTo>
                    <a:pt x="80924" y="234353"/>
                  </a:lnTo>
                  <a:lnTo>
                    <a:pt x="80276" y="236524"/>
                  </a:lnTo>
                  <a:lnTo>
                    <a:pt x="78651" y="239814"/>
                  </a:lnTo>
                  <a:lnTo>
                    <a:pt x="76669" y="242646"/>
                  </a:lnTo>
                </a:path>
                <a:path w="257809" h="247014">
                  <a:moveTo>
                    <a:pt x="176009" y="16510"/>
                  </a:moveTo>
                  <a:lnTo>
                    <a:pt x="192862" y="279"/>
                  </a:lnTo>
                  <a:lnTo>
                    <a:pt x="197078" y="228"/>
                  </a:lnTo>
                </a:path>
                <a:path w="257809" h="247014">
                  <a:moveTo>
                    <a:pt x="257162" y="66281"/>
                  </a:moveTo>
                  <a:lnTo>
                    <a:pt x="256717" y="69088"/>
                  </a:lnTo>
                  <a:lnTo>
                    <a:pt x="255841" y="71691"/>
                  </a:lnTo>
                  <a:lnTo>
                    <a:pt x="253961" y="74980"/>
                  </a:lnTo>
                  <a:lnTo>
                    <a:pt x="253199" y="75780"/>
                  </a:lnTo>
                </a:path>
                <a:path w="257809" h="247014">
                  <a:moveTo>
                    <a:pt x="16929" y="330"/>
                  </a:moveTo>
                  <a:lnTo>
                    <a:pt x="431" y="17640"/>
                  </a:lnTo>
                  <a:lnTo>
                    <a:pt x="419" y="22542"/>
                  </a:lnTo>
                </a:path>
                <a:path w="257809" h="247014">
                  <a:moveTo>
                    <a:pt x="64617" y="80746"/>
                  </a:moveTo>
                  <a:lnTo>
                    <a:pt x="81432" y="62865"/>
                  </a:lnTo>
                  <a:lnTo>
                    <a:pt x="81432" y="58661"/>
                  </a:lnTo>
                </a:path>
                <a:path w="257809" h="247014">
                  <a:moveTo>
                    <a:pt x="81394" y="15532"/>
                  </a:moveTo>
                  <a:lnTo>
                    <a:pt x="80975" y="12357"/>
                  </a:lnTo>
                  <a:lnTo>
                    <a:pt x="80302" y="10172"/>
                  </a:lnTo>
                  <a:lnTo>
                    <a:pt x="79235" y="8001"/>
                  </a:lnTo>
                  <a:lnTo>
                    <a:pt x="76530" y="4305"/>
                  </a:lnTo>
                </a:path>
                <a:path w="257809" h="247014">
                  <a:moveTo>
                    <a:pt x="245211" y="187147"/>
                  </a:moveTo>
                  <a:lnTo>
                    <a:pt x="217487" y="185000"/>
                  </a:lnTo>
                </a:path>
                <a:path w="257809" h="247014">
                  <a:moveTo>
                    <a:pt x="245211" y="187147"/>
                  </a:moveTo>
                  <a:lnTo>
                    <a:pt x="246570" y="188010"/>
                  </a:lnTo>
                </a:path>
                <a:path w="257809" h="247014">
                  <a:moveTo>
                    <a:pt x="128879" y="209816"/>
                  </a:moveTo>
                  <a:lnTo>
                    <a:pt x="128943" y="165900"/>
                  </a:lnTo>
                </a:path>
                <a:path w="257809" h="247014">
                  <a:moveTo>
                    <a:pt x="75323" y="243611"/>
                  </a:moveTo>
                  <a:lnTo>
                    <a:pt x="76669" y="242646"/>
                  </a:lnTo>
                </a:path>
                <a:path w="257809" h="247014">
                  <a:moveTo>
                    <a:pt x="75196" y="3378"/>
                  </a:moveTo>
                  <a:lnTo>
                    <a:pt x="76530" y="4305"/>
                  </a:lnTo>
                </a:path>
                <a:path w="257809" h="247014">
                  <a:moveTo>
                    <a:pt x="128473" y="123342"/>
                  </a:moveTo>
                  <a:lnTo>
                    <a:pt x="129044" y="36271"/>
                  </a:lnTo>
                </a:path>
                <a:path w="257809" h="247014">
                  <a:moveTo>
                    <a:pt x="39674" y="123532"/>
                  </a:moveTo>
                  <a:lnTo>
                    <a:pt x="128473" y="123342"/>
                  </a:lnTo>
                </a:path>
                <a:path w="257809" h="247014">
                  <a:moveTo>
                    <a:pt x="218871" y="123532"/>
                  </a:moveTo>
                  <a:lnTo>
                    <a:pt x="180022" y="123698"/>
                  </a:lnTo>
                </a:path>
                <a:path w="257809" h="247014">
                  <a:moveTo>
                    <a:pt x="180022" y="123698"/>
                  </a:moveTo>
                  <a:lnTo>
                    <a:pt x="179743" y="165176"/>
                  </a:lnTo>
                </a:path>
                <a:path w="257809" h="247014">
                  <a:moveTo>
                    <a:pt x="158940" y="165481"/>
                  </a:moveTo>
                  <a:lnTo>
                    <a:pt x="179743" y="165176"/>
                  </a:lnTo>
                </a:path>
                <a:path w="257809" h="247014">
                  <a:moveTo>
                    <a:pt x="16941" y="246672"/>
                  </a:moveTo>
                  <a:lnTo>
                    <a:pt x="14338" y="246786"/>
                  </a:lnTo>
                  <a:lnTo>
                    <a:pt x="11861" y="246291"/>
                  </a:lnTo>
                  <a:lnTo>
                    <a:pt x="9512" y="245198"/>
                  </a:lnTo>
                  <a:lnTo>
                    <a:pt x="7150" y="244106"/>
                  </a:lnTo>
                  <a:lnTo>
                    <a:pt x="0" y="231038"/>
                  </a:lnTo>
                  <a:lnTo>
                    <a:pt x="139" y="228523"/>
                  </a:lnTo>
                  <a:lnTo>
                    <a:pt x="876" y="226034"/>
                  </a:lnTo>
                </a:path>
                <a:path w="257809" h="247014">
                  <a:moveTo>
                    <a:pt x="431" y="225894"/>
                  </a:moveTo>
                  <a:lnTo>
                    <a:pt x="406" y="182791"/>
                  </a:lnTo>
                </a:path>
                <a:path w="257809" h="247014">
                  <a:moveTo>
                    <a:pt x="237401" y="80835"/>
                  </a:moveTo>
                  <a:lnTo>
                    <a:pt x="193217" y="80848"/>
                  </a:lnTo>
                </a:path>
                <a:path w="257809" h="247014">
                  <a:moveTo>
                    <a:pt x="22542" y="166217"/>
                  </a:moveTo>
                  <a:lnTo>
                    <a:pt x="64617" y="166166"/>
                  </a:lnTo>
                </a:path>
                <a:path w="257809" h="247014">
                  <a:moveTo>
                    <a:pt x="204038" y="203111"/>
                  </a:moveTo>
                  <a:lnTo>
                    <a:pt x="204089" y="238836"/>
                  </a:lnTo>
                </a:path>
                <a:path w="257809" h="247014">
                  <a:moveTo>
                    <a:pt x="193205" y="80772"/>
                  </a:moveTo>
                  <a:lnTo>
                    <a:pt x="179730" y="75412"/>
                  </a:lnTo>
                  <a:lnTo>
                    <a:pt x="178054" y="73469"/>
                  </a:lnTo>
                  <a:lnTo>
                    <a:pt x="176936" y="71247"/>
                  </a:lnTo>
                  <a:lnTo>
                    <a:pt x="176352" y="68745"/>
                  </a:lnTo>
                  <a:lnTo>
                    <a:pt x="175780" y="66243"/>
                  </a:lnTo>
                  <a:lnTo>
                    <a:pt x="175818" y="63754"/>
                  </a:lnTo>
                  <a:lnTo>
                    <a:pt x="176479" y="61277"/>
                  </a:lnTo>
                </a:path>
                <a:path w="257809" h="247014">
                  <a:moveTo>
                    <a:pt x="249936" y="233972"/>
                  </a:moveTo>
                  <a:lnTo>
                    <a:pt x="249809" y="196100"/>
                  </a:lnTo>
                </a:path>
                <a:path w="257809" h="247014">
                  <a:moveTo>
                    <a:pt x="176123" y="61188"/>
                  </a:moveTo>
                  <a:lnTo>
                    <a:pt x="176009" y="16510"/>
                  </a:lnTo>
                </a:path>
                <a:path w="257809" h="247014">
                  <a:moveTo>
                    <a:pt x="197078" y="228"/>
                  </a:moveTo>
                  <a:lnTo>
                    <a:pt x="241046" y="152"/>
                  </a:lnTo>
                </a:path>
                <a:path w="257809" h="247014">
                  <a:moveTo>
                    <a:pt x="241046" y="76"/>
                  </a:moveTo>
                  <a:lnTo>
                    <a:pt x="254076" y="6223"/>
                  </a:lnTo>
                  <a:lnTo>
                    <a:pt x="255638" y="8229"/>
                  </a:lnTo>
                  <a:lnTo>
                    <a:pt x="256641" y="10490"/>
                  </a:lnTo>
                  <a:lnTo>
                    <a:pt x="257111" y="12979"/>
                  </a:lnTo>
                  <a:lnTo>
                    <a:pt x="257581" y="15481"/>
                  </a:lnTo>
                  <a:lnTo>
                    <a:pt x="257441" y="17945"/>
                  </a:lnTo>
                  <a:lnTo>
                    <a:pt x="256730" y="20383"/>
                  </a:lnTo>
                </a:path>
                <a:path w="257809" h="247014">
                  <a:moveTo>
                    <a:pt x="81419" y="188036"/>
                  </a:moveTo>
                  <a:lnTo>
                    <a:pt x="81343" y="231165"/>
                  </a:lnTo>
                </a:path>
                <a:path w="257809" h="247014">
                  <a:moveTo>
                    <a:pt x="419" y="22542"/>
                  </a:moveTo>
                  <a:lnTo>
                    <a:pt x="419" y="64604"/>
                  </a:lnTo>
                </a:path>
                <a:path w="257809" h="247014">
                  <a:moveTo>
                    <a:pt x="419" y="64604"/>
                  </a:moveTo>
                  <a:lnTo>
                    <a:pt x="1784" y="71907"/>
                  </a:lnTo>
                  <a:lnTo>
                    <a:pt x="7158" y="77581"/>
                  </a:lnTo>
                  <a:lnTo>
                    <a:pt x="14429" y="80792"/>
                  </a:lnTo>
                  <a:lnTo>
                    <a:pt x="21488" y="80708"/>
                  </a:lnTo>
                </a:path>
                <a:path w="257809" h="247014">
                  <a:moveTo>
                    <a:pt x="257175" y="20510"/>
                  </a:moveTo>
                  <a:lnTo>
                    <a:pt x="257162" y="66281"/>
                  </a:lnTo>
                </a:path>
                <a:path w="257809" h="247014">
                  <a:moveTo>
                    <a:pt x="21488" y="80708"/>
                  </a:moveTo>
                  <a:lnTo>
                    <a:pt x="64617" y="80746"/>
                  </a:lnTo>
                </a:path>
                <a:path w="257809" h="247014">
                  <a:moveTo>
                    <a:pt x="81432" y="58661"/>
                  </a:moveTo>
                  <a:lnTo>
                    <a:pt x="81394" y="15532"/>
                  </a:lnTo>
                </a:path>
              </a:pathLst>
            </a:custGeom>
            <a:ln w="11374">
              <a:solidFill>
                <a:srgbClr val="3C383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58825" y="2687637"/>
            <a:ext cx="4116704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3C3838"/>
                </a:solidFill>
                <a:latin typeface="Trebuchet MS"/>
                <a:cs typeface="Trebuchet MS"/>
              </a:rPr>
              <a:t>CORS</a:t>
            </a:r>
            <a:r>
              <a:rPr dirty="0" sz="1650" spc="7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3C3838"/>
                </a:solidFill>
                <a:latin typeface="Trebuchet MS"/>
                <a:cs typeface="Trebuchet MS"/>
              </a:rPr>
              <a:t>Policy</a:t>
            </a:r>
            <a:r>
              <a:rPr dirty="0" sz="1650" spc="1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Errors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Fixed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by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configuring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explicit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origins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FastAPI's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CORS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middleware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73750" y="2687637"/>
            <a:ext cx="3967479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3C3838"/>
                </a:solidFill>
                <a:latin typeface="Trebuchet MS"/>
                <a:cs typeface="Trebuchet MS"/>
              </a:rPr>
              <a:t>OpenAI</a:t>
            </a:r>
            <a:r>
              <a:rPr dirty="0" sz="1650" spc="-10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75">
                <a:solidFill>
                  <a:srgbClr val="3C3838"/>
                </a:solidFill>
                <a:latin typeface="Trebuchet MS"/>
                <a:cs typeface="Trebuchet MS"/>
              </a:rPr>
              <a:t>API</a:t>
            </a:r>
            <a:r>
              <a:rPr dirty="0" sz="1650" spc="-4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3C3838"/>
                </a:solidFill>
                <a:latin typeface="Trebuchet MS"/>
                <a:cs typeface="Trebuchet MS"/>
              </a:rPr>
              <a:t>Ch&amp;nges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Migration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new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SDK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required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complete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refactoring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94717" y="3795117"/>
            <a:ext cx="10240645" cy="696595"/>
            <a:chOff x="594717" y="3795117"/>
            <a:chExt cx="10240645" cy="696595"/>
          </a:xfrm>
        </p:grpSpPr>
        <p:sp>
          <p:nvSpPr>
            <p:cNvPr id="13" name="object 13" descr=""/>
            <p:cNvSpPr/>
            <p:nvPr/>
          </p:nvSpPr>
          <p:spPr>
            <a:xfrm>
              <a:off x="600075" y="3800475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4943475" y="685800"/>
                  </a:lnTo>
                  <a:lnTo>
                    <a:pt x="5114925" y="342900"/>
                  </a:lnTo>
                  <a:lnTo>
                    <a:pt x="4943475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00075" y="3800475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5114925" y="342900"/>
                  </a:lnTo>
                  <a:lnTo>
                    <a:pt x="4943475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4943475" y="0"/>
                  </a:lnTo>
                  <a:close/>
                </a:path>
              </a:pathLst>
            </a:custGeom>
            <a:ln w="10715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8950" y="4037294"/>
              <a:ext cx="263027" cy="20263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715000" y="3800475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4943475" y="685800"/>
                  </a:lnTo>
                  <a:lnTo>
                    <a:pt x="5114925" y="342900"/>
                  </a:lnTo>
                  <a:lnTo>
                    <a:pt x="4943475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715000" y="3800475"/>
              <a:ext cx="5114925" cy="685800"/>
            </a:xfrm>
            <a:custGeom>
              <a:avLst/>
              <a:gdLst/>
              <a:ahLst/>
              <a:cxnLst/>
              <a:rect l="l" t="t" r="r" b="b"/>
              <a:pathLst>
                <a:path w="5114925" h="685800">
                  <a:moveTo>
                    <a:pt x="4943475" y="0"/>
                  </a:moveTo>
                  <a:lnTo>
                    <a:pt x="5114925" y="342900"/>
                  </a:lnTo>
                  <a:lnTo>
                    <a:pt x="4943475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4943475" y="0"/>
                  </a:lnTo>
                  <a:close/>
                </a:path>
              </a:pathLst>
            </a:custGeom>
            <a:ln w="10715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8224" y="4004374"/>
              <a:ext cx="268476" cy="268464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758825" y="4640262"/>
            <a:ext cx="453263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C3838"/>
                </a:solidFill>
                <a:latin typeface="Trebuchet MS"/>
                <a:cs typeface="Trebuchet MS"/>
              </a:rPr>
              <a:t>Perform&amp;nce</a:t>
            </a:r>
            <a:r>
              <a:rPr dirty="0" sz="1650" spc="229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25">
                <a:solidFill>
                  <a:srgbClr val="3C3838"/>
                </a:solidFill>
                <a:latin typeface="Trebuchet MS"/>
                <a:cs typeface="Trebuchet MS"/>
              </a:rPr>
              <a:t>L&amp;g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Switched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from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local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Ollama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Groq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API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faster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inference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873750" y="4640262"/>
            <a:ext cx="454914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C3838"/>
                </a:solidFill>
                <a:latin typeface="Trebuchet MS"/>
                <a:cs typeface="Trebuchet MS"/>
              </a:rPr>
              <a:t>Vector</a:t>
            </a:r>
            <a:r>
              <a:rPr dirty="0" sz="1650" spc="10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D&amp;t&amp;b&amp;se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Managed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FAISS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dependencies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efficient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similarity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search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1" name="object 21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0492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700"/>
              </a:spcBef>
            </a:pPr>
            <a:r>
              <a:rPr dirty="0" spc="125"/>
              <a:t>Key</a:t>
            </a:r>
            <a:r>
              <a:rPr dirty="0" spc="-204"/>
              <a:t> </a:t>
            </a:r>
            <a:r>
              <a:rPr dirty="0" spc="-105"/>
              <a:t>Fin&amp;nci&amp;l</a:t>
            </a:r>
            <a:r>
              <a:rPr dirty="0" spc="-215"/>
              <a:t> </a:t>
            </a:r>
            <a:r>
              <a:rPr dirty="0" spc="70"/>
              <a:t>Insights</a:t>
            </a:r>
          </a:p>
          <a:p>
            <a:pPr marL="53975">
              <a:lnSpc>
                <a:spcPct val="100000"/>
              </a:lnSpc>
              <a:spcBef>
                <a:spcPts val="830"/>
              </a:spcBef>
            </a:pPr>
            <a:r>
              <a:rPr dirty="0" sz="1650"/>
              <a:t>Reli&amp;nce</a:t>
            </a:r>
            <a:r>
              <a:rPr dirty="0" sz="1650" spc="-25"/>
              <a:t> </a:t>
            </a:r>
            <a:r>
              <a:rPr dirty="0" sz="1650" spc="85"/>
              <a:t>2023–24</a:t>
            </a:r>
            <a:r>
              <a:rPr dirty="0" sz="1650" spc="-20"/>
              <a:t> </a:t>
            </a:r>
            <a:r>
              <a:rPr dirty="0" sz="1650" spc="-45"/>
              <a:t>Fin&amp;nci&amp;l</a:t>
            </a:r>
            <a:r>
              <a:rPr dirty="0" sz="1650" spc="-75"/>
              <a:t> </a:t>
            </a:r>
            <a:r>
              <a:rPr dirty="0" sz="1650" spc="-110"/>
              <a:t>D&amp;t&amp;</a:t>
            </a:r>
            <a:r>
              <a:rPr dirty="0" sz="1650" spc="-75"/>
              <a:t> </a:t>
            </a:r>
            <a:r>
              <a:rPr dirty="0" sz="1650" spc="-10"/>
              <a:t>An&amp;lysis</a:t>
            </a:r>
            <a:endParaRPr sz="1650"/>
          </a:p>
        </p:txBody>
      </p:sp>
      <p:sp>
        <p:nvSpPr>
          <p:cNvPr id="3" name="object 3" descr=""/>
          <p:cNvSpPr txBox="1"/>
          <p:nvPr/>
        </p:nvSpPr>
        <p:spPr>
          <a:xfrm>
            <a:off x="991443" y="1850389"/>
            <a:ext cx="1614170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195">
                <a:solidFill>
                  <a:srgbClr val="3C3838"/>
                </a:solidFill>
                <a:latin typeface="Trebuchet MS"/>
                <a:cs typeface="Trebuchet MS"/>
              </a:rPr>
              <a:t>Ÿ1.76T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-25">
                <a:solidFill>
                  <a:srgbClr val="3C3838"/>
                </a:solidFill>
                <a:latin typeface="Trebuchet MS"/>
                <a:cs typeface="Trebuchet MS"/>
              </a:rPr>
              <a:t>Total</a:t>
            </a:r>
            <a:r>
              <a:rPr dirty="0" sz="1650" spc="-14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85">
                <a:solidFill>
                  <a:srgbClr val="3C3838"/>
                </a:solidFill>
                <a:latin typeface="Trebuchet MS"/>
                <a:cs typeface="Trebuchet MS"/>
              </a:rPr>
              <a:t>Assets</a:t>
            </a:r>
            <a:endParaRPr sz="1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crore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rupees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89235" y="1850389"/>
            <a:ext cx="1640839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95">
                <a:solidFill>
                  <a:srgbClr val="3C3838"/>
                </a:solidFill>
                <a:latin typeface="Trebuchet MS"/>
                <a:cs typeface="Trebuchet MS"/>
              </a:rPr>
              <a:t>Ÿ830K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-25">
                <a:solidFill>
                  <a:srgbClr val="3C3838"/>
                </a:solidFill>
                <a:latin typeface="Trebuchet MS"/>
                <a:cs typeface="Trebuchet MS"/>
              </a:rPr>
              <a:t>Total</a:t>
            </a:r>
            <a:r>
              <a:rPr dirty="0" sz="1650" spc="-9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Liabilities</a:t>
            </a:r>
            <a:endParaRPr sz="1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crore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rupees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08458" y="1850389"/>
            <a:ext cx="1624330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65">
                <a:solidFill>
                  <a:srgbClr val="3C3838"/>
                </a:solidFill>
                <a:latin typeface="Trebuchet MS"/>
                <a:cs typeface="Trebuchet MS"/>
              </a:rPr>
              <a:t>Ÿ926K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-25">
                <a:solidFill>
                  <a:srgbClr val="3C3838"/>
                </a:solidFill>
                <a:latin typeface="Trebuchet MS"/>
                <a:cs typeface="Trebuchet MS"/>
              </a:rPr>
              <a:t>Total</a:t>
            </a:r>
            <a:r>
              <a:rPr dirty="0" sz="1650" spc="-9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Equity</a:t>
            </a:r>
            <a:endParaRPr sz="1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crore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rupees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61920" y="1850389"/>
            <a:ext cx="1539875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10">
                <a:solidFill>
                  <a:srgbClr val="3C3838"/>
                </a:solidFill>
                <a:latin typeface="Trebuchet MS"/>
                <a:cs typeface="Trebuchet MS"/>
              </a:rPr>
              <a:t>Ÿ914K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70">
                <a:solidFill>
                  <a:srgbClr val="3C3838"/>
                </a:solidFill>
                <a:latin typeface="Trebuchet MS"/>
                <a:cs typeface="Trebuchet MS"/>
              </a:rPr>
              <a:t>Revenue</a:t>
            </a:r>
            <a:endParaRPr sz="1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From</a:t>
            </a:r>
            <a:r>
              <a:rPr dirty="0" sz="1350" spc="-7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operations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64114" y="3707765"/>
            <a:ext cx="1290955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20">
                <a:solidFill>
                  <a:srgbClr val="3C3838"/>
                </a:solidFill>
                <a:latin typeface="Trebuchet MS"/>
                <a:cs typeface="Trebuchet MS"/>
              </a:rPr>
              <a:t>Ÿ79K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75">
                <a:solidFill>
                  <a:srgbClr val="3C3838"/>
                </a:solidFill>
                <a:latin typeface="Trebuchet MS"/>
                <a:cs typeface="Trebuchet MS"/>
              </a:rPr>
              <a:t>Annual</a:t>
            </a:r>
            <a:r>
              <a:rPr dirty="0" sz="1650" spc="-12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Profit</a:t>
            </a:r>
            <a:endParaRPr sz="1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year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81364" y="3707765"/>
            <a:ext cx="1878330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10">
                <a:solidFill>
                  <a:srgbClr val="3C3838"/>
                </a:solidFill>
                <a:latin typeface="Trebuchet MS"/>
                <a:cs typeface="Trebuchet MS"/>
              </a:rPr>
              <a:t>52.7%</a:t>
            </a:r>
            <a:endParaRPr sz="44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>
                <a:solidFill>
                  <a:srgbClr val="3C3838"/>
                </a:solidFill>
                <a:latin typeface="Trebuchet MS"/>
                <a:cs typeface="Trebuchet MS"/>
              </a:rPr>
              <a:t>Equity</a:t>
            </a:r>
            <a:r>
              <a:rPr dirty="0" sz="1650" spc="10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Ratio</a:t>
            </a:r>
            <a:endParaRPr sz="1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Strong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financial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position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7369" y="5435600"/>
            <a:ext cx="94951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model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demonstrated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strong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analytical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capability,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identifying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company's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solid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equity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ratio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positive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liquidity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profile.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0" name="object 10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263650"/>
            <a:ext cx="46069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25"/>
              <a:t>Deployment</a:t>
            </a:r>
            <a:r>
              <a:rPr dirty="0" spc="-130"/>
              <a:t> </a:t>
            </a:r>
            <a:r>
              <a:rPr dirty="0" spc="890"/>
              <a:t>s</a:t>
            </a:r>
            <a:r>
              <a:rPr dirty="0" spc="-125"/>
              <a:t> </a:t>
            </a:r>
            <a:r>
              <a:rPr dirty="0" spc="65"/>
              <a:t>Security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81025" y="2095499"/>
            <a:ext cx="5048250" cy="1571625"/>
            <a:chOff x="581025" y="2095499"/>
            <a:chExt cx="5048250" cy="1571625"/>
          </a:xfrm>
        </p:grpSpPr>
        <p:sp>
          <p:nvSpPr>
            <p:cNvPr id="4" name="object 4" descr=""/>
            <p:cNvSpPr/>
            <p:nvPr/>
          </p:nvSpPr>
          <p:spPr>
            <a:xfrm>
              <a:off x="600075" y="2105024"/>
              <a:ext cx="5019675" cy="1552575"/>
            </a:xfrm>
            <a:custGeom>
              <a:avLst/>
              <a:gdLst/>
              <a:ahLst/>
              <a:cxnLst/>
              <a:rect l="l" t="t" r="r" b="b"/>
              <a:pathLst>
                <a:path w="5019675" h="1552575">
                  <a:moveTo>
                    <a:pt x="4972507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485900"/>
                  </a:lnTo>
                  <a:lnTo>
                    <a:pt x="0" y="1490281"/>
                  </a:lnTo>
                  <a:lnTo>
                    <a:pt x="15622" y="1526578"/>
                  </a:lnTo>
                  <a:lnTo>
                    <a:pt x="51663" y="1549171"/>
                  </a:lnTo>
                  <a:lnTo>
                    <a:pt x="71194" y="1552575"/>
                  </a:lnTo>
                  <a:lnTo>
                    <a:pt x="4972507" y="1552575"/>
                  </a:lnTo>
                  <a:lnTo>
                    <a:pt x="5007229" y="1535442"/>
                  </a:lnTo>
                  <a:lnTo>
                    <a:pt x="5018697" y="1511935"/>
                  </a:lnTo>
                  <a:lnTo>
                    <a:pt x="5019357" y="1508696"/>
                  </a:lnTo>
                  <a:lnTo>
                    <a:pt x="5019675" y="1505407"/>
                  </a:lnTo>
                  <a:lnTo>
                    <a:pt x="5019675" y="47167"/>
                  </a:lnTo>
                  <a:lnTo>
                    <a:pt x="5002542" y="12446"/>
                  </a:lnTo>
                  <a:lnTo>
                    <a:pt x="4975796" y="317"/>
                  </a:lnTo>
                  <a:lnTo>
                    <a:pt x="4972507" y="0"/>
                  </a:lnTo>
                  <a:close/>
                </a:path>
              </a:pathLst>
            </a:custGeom>
            <a:solidFill>
              <a:srgbClr val="FFFFFF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0913" y="2095512"/>
              <a:ext cx="5028565" cy="1571625"/>
            </a:xfrm>
            <a:custGeom>
              <a:avLst/>
              <a:gdLst/>
              <a:ahLst/>
              <a:cxnLst/>
              <a:rect l="l" t="t" r="r" b="b"/>
              <a:pathLst>
                <a:path w="5028565" h="1571625">
                  <a:moveTo>
                    <a:pt x="5028311" y="51828"/>
                  </a:moveTo>
                  <a:lnTo>
                    <a:pt x="5026825" y="44399"/>
                  </a:lnTo>
                  <a:lnTo>
                    <a:pt x="5020729" y="29692"/>
                  </a:lnTo>
                  <a:lnTo>
                    <a:pt x="5016398" y="23202"/>
                  </a:lnTo>
                  <a:lnTo>
                    <a:pt x="5011242" y="18059"/>
                  </a:lnTo>
                  <a:lnTo>
                    <a:pt x="5011001" y="17805"/>
                  </a:lnTo>
                  <a:lnTo>
                    <a:pt x="5010785" y="17576"/>
                  </a:lnTo>
                  <a:lnTo>
                    <a:pt x="5005146" y="11950"/>
                  </a:lnTo>
                  <a:lnTo>
                    <a:pt x="4998656" y="7607"/>
                  </a:lnTo>
                  <a:lnTo>
                    <a:pt x="4984077" y="1562"/>
                  </a:lnTo>
                  <a:lnTo>
                    <a:pt x="4984204" y="1562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4997551" y="31356"/>
                  </a:lnTo>
                  <a:lnTo>
                    <a:pt x="5002555" y="37350"/>
                  </a:lnTo>
                  <a:lnTo>
                    <a:pt x="5006340" y="44399"/>
                  </a:lnTo>
                  <a:lnTo>
                    <a:pt x="5008550" y="51828"/>
                  </a:lnTo>
                  <a:lnTo>
                    <a:pt x="5009299" y="60007"/>
                  </a:lnTo>
                  <a:lnTo>
                    <a:pt x="5009299" y="1511617"/>
                  </a:lnTo>
                  <a:lnTo>
                    <a:pt x="4990998" y="1545818"/>
                  </a:lnTo>
                  <a:lnTo>
                    <a:pt x="4968341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92" y="1510296"/>
                  </a:lnTo>
                  <a:lnTo>
                    <a:pt x="0" y="1506181"/>
                  </a:lnTo>
                  <a:lnTo>
                    <a:pt x="609" y="1510296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4976304" y="1571625"/>
                  </a:lnTo>
                  <a:lnTo>
                    <a:pt x="4983581" y="1570164"/>
                  </a:lnTo>
                  <a:lnTo>
                    <a:pt x="4983772" y="1570164"/>
                  </a:lnTo>
                  <a:lnTo>
                    <a:pt x="4998656" y="1564005"/>
                  </a:lnTo>
                  <a:lnTo>
                    <a:pt x="5005146" y="1559674"/>
                  </a:lnTo>
                  <a:lnTo>
                    <a:pt x="5010772" y="1554048"/>
                  </a:lnTo>
                  <a:lnTo>
                    <a:pt x="5011255" y="1553565"/>
                  </a:lnTo>
                  <a:lnTo>
                    <a:pt x="5016398" y="1548422"/>
                  </a:lnTo>
                  <a:lnTo>
                    <a:pt x="5020729" y="1541932"/>
                  </a:lnTo>
                  <a:lnTo>
                    <a:pt x="5026787" y="1527327"/>
                  </a:lnTo>
                  <a:lnTo>
                    <a:pt x="5028311" y="1519783"/>
                  </a:lnTo>
                  <a:lnTo>
                    <a:pt x="5028311" y="51828"/>
                  </a:lnTo>
                  <a:close/>
                </a:path>
              </a:pathLst>
            </a:custGeom>
            <a:solidFill>
              <a:srgbClr val="C7C7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1025" y="2095499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511617"/>
                  </a:lnTo>
                  <a:lnTo>
                    <a:pt x="0" y="1515554"/>
                  </a:lnTo>
                  <a:lnTo>
                    <a:pt x="14789" y="1551266"/>
                  </a:lnTo>
                  <a:lnTo>
                    <a:pt x="52163" y="1571244"/>
                  </a:lnTo>
                  <a:lnTo>
                    <a:pt x="56067" y="1571625"/>
                  </a:lnTo>
                  <a:lnTo>
                    <a:pt x="76200" y="1571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835025" y="2268537"/>
            <a:ext cx="427291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5">
                <a:solidFill>
                  <a:srgbClr val="3C3838"/>
                </a:solidFill>
                <a:latin typeface="Trebuchet MS"/>
                <a:cs typeface="Trebuchet MS"/>
              </a:rPr>
              <a:t>B&amp;ckend</a:t>
            </a:r>
            <a:r>
              <a:rPr dirty="0" sz="1650" spc="-5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3C3838"/>
                </a:solidFill>
                <a:latin typeface="Trebuchet MS"/>
                <a:cs typeface="Trebuchet MS"/>
              </a:rPr>
              <a:t>Hosting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Deployed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on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3C3838"/>
                </a:solidFill>
                <a:latin typeface="Roboto"/>
                <a:cs typeface="Roboto"/>
              </a:rPr>
              <a:t>Render,</a:t>
            </a:r>
            <a:r>
              <a:rPr dirty="0" sz="1350" spc="-15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 b="1">
                <a:solidFill>
                  <a:srgbClr val="3C3838"/>
                </a:solidFill>
                <a:latin typeface="Roboto"/>
                <a:cs typeface="Roboto"/>
              </a:rPr>
              <a:t>Railway,</a:t>
            </a:r>
            <a:r>
              <a:rPr dirty="0" sz="1350" spc="-15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or</a:t>
            </a:r>
            <a:r>
              <a:rPr dirty="0" sz="1350" spc="-15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AWS</a:t>
            </a:r>
            <a:r>
              <a:rPr dirty="0" sz="1350" spc="-10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EC2</a:t>
            </a:r>
            <a:r>
              <a:rPr dirty="0" sz="1350" spc="-10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robust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performance,</a:t>
            </a:r>
            <a:r>
              <a:rPr dirty="0" sz="1350" spc="-7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automated</a:t>
            </a:r>
            <a:r>
              <a:rPr dirty="0" sz="1350" spc="-7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pipelines,</a:t>
            </a:r>
            <a:r>
              <a:rPr dirty="0" sz="1350" spc="-7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SSL</a:t>
            </a:r>
            <a:r>
              <a:rPr dirty="0" sz="1350" spc="-7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certificates,</a:t>
            </a:r>
            <a:r>
              <a:rPr dirty="0" sz="1350" spc="-7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and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scalability.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781675" y="2095499"/>
            <a:ext cx="5048250" cy="1571625"/>
            <a:chOff x="5781675" y="2095499"/>
            <a:chExt cx="5048250" cy="1571625"/>
          </a:xfrm>
        </p:grpSpPr>
        <p:sp>
          <p:nvSpPr>
            <p:cNvPr id="9" name="object 9" descr=""/>
            <p:cNvSpPr/>
            <p:nvPr/>
          </p:nvSpPr>
          <p:spPr>
            <a:xfrm>
              <a:off x="5800725" y="2105024"/>
              <a:ext cx="5019675" cy="1552575"/>
            </a:xfrm>
            <a:custGeom>
              <a:avLst/>
              <a:gdLst/>
              <a:ahLst/>
              <a:cxnLst/>
              <a:rect l="l" t="t" r="r" b="b"/>
              <a:pathLst>
                <a:path w="5019675" h="1552575">
                  <a:moveTo>
                    <a:pt x="497250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485900"/>
                  </a:lnTo>
                  <a:lnTo>
                    <a:pt x="0" y="1490281"/>
                  </a:lnTo>
                  <a:lnTo>
                    <a:pt x="15621" y="1526578"/>
                  </a:lnTo>
                  <a:lnTo>
                    <a:pt x="51663" y="1549171"/>
                  </a:lnTo>
                  <a:lnTo>
                    <a:pt x="71196" y="1552575"/>
                  </a:lnTo>
                  <a:lnTo>
                    <a:pt x="4972507" y="1552575"/>
                  </a:lnTo>
                  <a:lnTo>
                    <a:pt x="5007229" y="1535442"/>
                  </a:lnTo>
                  <a:lnTo>
                    <a:pt x="5018697" y="1511935"/>
                  </a:lnTo>
                  <a:lnTo>
                    <a:pt x="5019357" y="1508696"/>
                  </a:lnTo>
                  <a:lnTo>
                    <a:pt x="5019675" y="1505407"/>
                  </a:lnTo>
                  <a:lnTo>
                    <a:pt x="5019675" y="47167"/>
                  </a:lnTo>
                  <a:lnTo>
                    <a:pt x="5002542" y="12446"/>
                  </a:lnTo>
                  <a:lnTo>
                    <a:pt x="4975796" y="317"/>
                  </a:lnTo>
                  <a:lnTo>
                    <a:pt x="4972507" y="0"/>
                  </a:lnTo>
                  <a:close/>
                </a:path>
              </a:pathLst>
            </a:custGeom>
            <a:solidFill>
              <a:srgbClr val="FFFFFF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01563" y="2095512"/>
              <a:ext cx="5028565" cy="1571625"/>
            </a:xfrm>
            <a:custGeom>
              <a:avLst/>
              <a:gdLst/>
              <a:ahLst/>
              <a:cxnLst/>
              <a:rect l="l" t="t" r="r" b="b"/>
              <a:pathLst>
                <a:path w="5028565" h="1571625">
                  <a:moveTo>
                    <a:pt x="5028311" y="51828"/>
                  </a:moveTo>
                  <a:lnTo>
                    <a:pt x="5026825" y="44399"/>
                  </a:lnTo>
                  <a:lnTo>
                    <a:pt x="5020729" y="29692"/>
                  </a:lnTo>
                  <a:lnTo>
                    <a:pt x="5016398" y="23202"/>
                  </a:lnTo>
                  <a:lnTo>
                    <a:pt x="5011242" y="18059"/>
                  </a:lnTo>
                  <a:lnTo>
                    <a:pt x="5011001" y="17805"/>
                  </a:lnTo>
                  <a:lnTo>
                    <a:pt x="5010785" y="17576"/>
                  </a:lnTo>
                  <a:lnTo>
                    <a:pt x="5005146" y="11950"/>
                  </a:lnTo>
                  <a:lnTo>
                    <a:pt x="4998656" y="7607"/>
                  </a:lnTo>
                  <a:lnTo>
                    <a:pt x="4984077" y="1562"/>
                  </a:lnTo>
                  <a:lnTo>
                    <a:pt x="4984204" y="1562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4997551" y="31356"/>
                  </a:lnTo>
                  <a:lnTo>
                    <a:pt x="5002555" y="37350"/>
                  </a:lnTo>
                  <a:lnTo>
                    <a:pt x="5006340" y="44399"/>
                  </a:lnTo>
                  <a:lnTo>
                    <a:pt x="5008550" y="51828"/>
                  </a:lnTo>
                  <a:lnTo>
                    <a:pt x="5009299" y="60007"/>
                  </a:lnTo>
                  <a:lnTo>
                    <a:pt x="5009299" y="1511617"/>
                  </a:lnTo>
                  <a:lnTo>
                    <a:pt x="4990998" y="1545818"/>
                  </a:lnTo>
                  <a:lnTo>
                    <a:pt x="4968341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79" y="1510296"/>
                  </a:lnTo>
                  <a:lnTo>
                    <a:pt x="0" y="1506181"/>
                  </a:lnTo>
                  <a:lnTo>
                    <a:pt x="609" y="1510296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4976304" y="1571625"/>
                  </a:lnTo>
                  <a:lnTo>
                    <a:pt x="4983581" y="1570164"/>
                  </a:lnTo>
                  <a:lnTo>
                    <a:pt x="4983772" y="1570164"/>
                  </a:lnTo>
                  <a:lnTo>
                    <a:pt x="4998656" y="1564005"/>
                  </a:lnTo>
                  <a:lnTo>
                    <a:pt x="5005146" y="1559674"/>
                  </a:lnTo>
                  <a:lnTo>
                    <a:pt x="5010772" y="1554048"/>
                  </a:lnTo>
                  <a:lnTo>
                    <a:pt x="5011255" y="1553565"/>
                  </a:lnTo>
                  <a:lnTo>
                    <a:pt x="5016398" y="1548422"/>
                  </a:lnTo>
                  <a:lnTo>
                    <a:pt x="5020729" y="1541932"/>
                  </a:lnTo>
                  <a:lnTo>
                    <a:pt x="5026787" y="1527327"/>
                  </a:lnTo>
                  <a:lnTo>
                    <a:pt x="5028311" y="1519783"/>
                  </a:lnTo>
                  <a:lnTo>
                    <a:pt x="5028311" y="51828"/>
                  </a:lnTo>
                  <a:close/>
                </a:path>
              </a:pathLst>
            </a:custGeom>
            <a:solidFill>
              <a:srgbClr val="C7C7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81675" y="2095499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511617"/>
                  </a:lnTo>
                  <a:lnTo>
                    <a:pt x="0" y="1515554"/>
                  </a:lnTo>
                  <a:lnTo>
                    <a:pt x="14782" y="1551266"/>
                  </a:lnTo>
                  <a:lnTo>
                    <a:pt x="52158" y="1571244"/>
                  </a:lnTo>
                  <a:lnTo>
                    <a:pt x="56070" y="1571625"/>
                  </a:lnTo>
                  <a:lnTo>
                    <a:pt x="76200" y="1571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035675" y="2268537"/>
            <a:ext cx="448691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C3838"/>
                </a:solidFill>
                <a:latin typeface="Trebuchet MS"/>
                <a:cs typeface="Trebuchet MS"/>
              </a:rPr>
              <a:t>Frontend</a:t>
            </a:r>
            <a:r>
              <a:rPr dirty="0" sz="1650" spc="26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3C3838"/>
                </a:solidFill>
                <a:latin typeface="Trebuchet MS"/>
                <a:cs typeface="Trebuchet MS"/>
              </a:rPr>
              <a:t>Deployment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Hosted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via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Streamlit</a:t>
            </a:r>
            <a:r>
              <a:rPr dirty="0" sz="1350" spc="-35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Cloud</a:t>
            </a:r>
            <a:r>
              <a:rPr dirty="0" sz="1350" spc="-30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rapid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access,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real-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time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API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interaction,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browser-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based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financial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data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visualization.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81025" y="3838575"/>
            <a:ext cx="5048250" cy="1304925"/>
            <a:chOff x="581025" y="3838575"/>
            <a:chExt cx="5048250" cy="1304925"/>
          </a:xfrm>
        </p:grpSpPr>
        <p:sp>
          <p:nvSpPr>
            <p:cNvPr id="14" name="object 14" descr=""/>
            <p:cNvSpPr/>
            <p:nvPr/>
          </p:nvSpPr>
          <p:spPr>
            <a:xfrm>
              <a:off x="600075" y="3848100"/>
              <a:ext cx="5019675" cy="1285875"/>
            </a:xfrm>
            <a:custGeom>
              <a:avLst/>
              <a:gdLst/>
              <a:ahLst/>
              <a:cxnLst/>
              <a:rect l="l" t="t" r="r" b="b"/>
              <a:pathLst>
                <a:path w="5019675" h="1285875">
                  <a:moveTo>
                    <a:pt x="4972507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19200"/>
                  </a:lnTo>
                  <a:lnTo>
                    <a:pt x="0" y="1223581"/>
                  </a:lnTo>
                  <a:lnTo>
                    <a:pt x="15622" y="1259878"/>
                  </a:lnTo>
                  <a:lnTo>
                    <a:pt x="51663" y="1282471"/>
                  </a:lnTo>
                  <a:lnTo>
                    <a:pt x="71194" y="1285875"/>
                  </a:lnTo>
                  <a:lnTo>
                    <a:pt x="4972507" y="1285875"/>
                  </a:lnTo>
                  <a:lnTo>
                    <a:pt x="5007229" y="1268742"/>
                  </a:lnTo>
                  <a:lnTo>
                    <a:pt x="5018697" y="1245235"/>
                  </a:lnTo>
                  <a:lnTo>
                    <a:pt x="5019357" y="1241996"/>
                  </a:lnTo>
                  <a:lnTo>
                    <a:pt x="5019675" y="1238707"/>
                  </a:lnTo>
                  <a:lnTo>
                    <a:pt x="5019675" y="47167"/>
                  </a:lnTo>
                  <a:lnTo>
                    <a:pt x="5002542" y="12446"/>
                  </a:lnTo>
                  <a:lnTo>
                    <a:pt x="4975796" y="317"/>
                  </a:lnTo>
                  <a:lnTo>
                    <a:pt x="4972507" y="0"/>
                  </a:lnTo>
                  <a:close/>
                </a:path>
              </a:pathLst>
            </a:custGeom>
            <a:solidFill>
              <a:srgbClr val="FFFFFF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0913" y="3838587"/>
              <a:ext cx="5028565" cy="1304925"/>
            </a:xfrm>
            <a:custGeom>
              <a:avLst/>
              <a:gdLst/>
              <a:ahLst/>
              <a:cxnLst/>
              <a:rect l="l" t="t" r="r" b="b"/>
              <a:pathLst>
                <a:path w="5028565" h="1304925">
                  <a:moveTo>
                    <a:pt x="5028311" y="51828"/>
                  </a:moveTo>
                  <a:lnTo>
                    <a:pt x="5026825" y="44399"/>
                  </a:lnTo>
                  <a:lnTo>
                    <a:pt x="5020729" y="29692"/>
                  </a:lnTo>
                  <a:lnTo>
                    <a:pt x="5016398" y="23202"/>
                  </a:lnTo>
                  <a:lnTo>
                    <a:pt x="5011242" y="18059"/>
                  </a:lnTo>
                  <a:lnTo>
                    <a:pt x="5011001" y="17805"/>
                  </a:lnTo>
                  <a:lnTo>
                    <a:pt x="5010785" y="17576"/>
                  </a:lnTo>
                  <a:lnTo>
                    <a:pt x="5005146" y="11950"/>
                  </a:lnTo>
                  <a:lnTo>
                    <a:pt x="4998656" y="7607"/>
                  </a:lnTo>
                  <a:lnTo>
                    <a:pt x="4984077" y="1562"/>
                  </a:lnTo>
                  <a:lnTo>
                    <a:pt x="4984204" y="1562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4997551" y="31356"/>
                  </a:lnTo>
                  <a:lnTo>
                    <a:pt x="5002555" y="37350"/>
                  </a:lnTo>
                  <a:lnTo>
                    <a:pt x="5006340" y="44399"/>
                  </a:lnTo>
                  <a:lnTo>
                    <a:pt x="5008550" y="51828"/>
                  </a:lnTo>
                  <a:lnTo>
                    <a:pt x="5009299" y="60007"/>
                  </a:lnTo>
                  <a:lnTo>
                    <a:pt x="5009299" y="1244917"/>
                  </a:lnTo>
                  <a:lnTo>
                    <a:pt x="4990998" y="1279118"/>
                  </a:lnTo>
                  <a:lnTo>
                    <a:pt x="4968341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92" y="1243596"/>
                  </a:lnTo>
                  <a:lnTo>
                    <a:pt x="0" y="1239481"/>
                  </a:lnTo>
                  <a:lnTo>
                    <a:pt x="609" y="1243596"/>
                  </a:lnTo>
                  <a:lnTo>
                    <a:pt x="2413" y="1250797"/>
                  </a:lnTo>
                  <a:lnTo>
                    <a:pt x="4851" y="1257592"/>
                  </a:lnTo>
                  <a:lnTo>
                    <a:pt x="4953" y="1257884"/>
                  </a:lnTo>
                  <a:lnTo>
                    <a:pt x="33007" y="1292085"/>
                  </a:lnTo>
                  <a:lnTo>
                    <a:pt x="75349" y="1304925"/>
                  </a:lnTo>
                  <a:lnTo>
                    <a:pt x="4976304" y="1304925"/>
                  </a:lnTo>
                  <a:lnTo>
                    <a:pt x="4983581" y="1303464"/>
                  </a:lnTo>
                  <a:lnTo>
                    <a:pt x="4983772" y="1303464"/>
                  </a:lnTo>
                  <a:lnTo>
                    <a:pt x="4998656" y="1297305"/>
                  </a:lnTo>
                  <a:lnTo>
                    <a:pt x="5005146" y="1292974"/>
                  </a:lnTo>
                  <a:lnTo>
                    <a:pt x="5010772" y="1287348"/>
                  </a:lnTo>
                  <a:lnTo>
                    <a:pt x="5011255" y="1286865"/>
                  </a:lnTo>
                  <a:lnTo>
                    <a:pt x="5016398" y="1281722"/>
                  </a:lnTo>
                  <a:lnTo>
                    <a:pt x="5020729" y="1275232"/>
                  </a:lnTo>
                  <a:lnTo>
                    <a:pt x="5026787" y="1260627"/>
                  </a:lnTo>
                  <a:lnTo>
                    <a:pt x="5028311" y="1253083"/>
                  </a:lnTo>
                  <a:lnTo>
                    <a:pt x="5028311" y="51828"/>
                  </a:lnTo>
                  <a:close/>
                </a:path>
              </a:pathLst>
            </a:custGeom>
            <a:solidFill>
              <a:srgbClr val="C7C7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81025" y="3838575"/>
              <a:ext cx="76200" cy="1304925"/>
            </a:xfrm>
            <a:custGeom>
              <a:avLst/>
              <a:gdLst/>
              <a:ahLst/>
              <a:cxnLst/>
              <a:rect l="l" t="t" r="r" b="b"/>
              <a:pathLst>
                <a:path w="76200" h="1304925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244917"/>
                  </a:lnTo>
                  <a:lnTo>
                    <a:pt x="0" y="1248854"/>
                  </a:lnTo>
                  <a:lnTo>
                    <a:pt x="14789" y="1284566"/>
                  </a:lnTo>
                  <a:lnTo>
                    <a:pt x="52163" y="1304544"/>
                  </a:lnTo>
                  <a:lnTo>
                    <a:pt x="56067" y="1304925"/>
                  </a:lnTo>
                  <a:lnTo>
                    <a:pt x="76200" y="13049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35025" y="4011612"/>
            <a:ext cx="425704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3C3838"/>
                </a:solidFill>
                <a:latin typeface="Trebuchet MS"/>
                <a:cs typeface="Trebuchet MS"/>
              </a:rPr>
              <a:t>CORS</a:t>
            </a:r>
            <a:r>
              <a:rPr dirty="0" sz="1650" spc="-6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Security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Restricted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origins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configured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FastAPI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middleware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to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prevent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unauthorized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requests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cross-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origin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attacks.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781675" y="3838575"/>
            <a:ext cx="5048250" cy="1304925"/>
            <a:chOff x="5781675" y="3838575"/>
            <a:chExt cx="5048250" cy="1304925"/>
          </a:xfrm>
        </p:grpSpPr>
        <p:sp>
          <p:nvSpPr>
            <p:cNvPr id="19" name="object 19" descr=""/>
            <p:cNvSpPr/>
            <p:nvPr/>
          </p:nvSpPr>
          <p:spPr>
            <a:xfrm>
              <a:off x="5800725" y="3848100"/>
              <a:ext cx="5019675" cy="1285875"/>
            </a:xfrm>
            <a:custGeom>
              <a:avLst/>
              <a:gdLst/>
              <a:ahLst/>
              <a:cxnLst/>
              <a:rect l="l" t="t" r="r" b="b"/>
              <a:pathLst>
                <a:path w="5019675" h="1285875">
                  <a:moveTo>
                    <a:pt x="497250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19200"/>
                  </a:lnTo>
                  <a:lnTo>
                    <a:pt x="0" y="1223581"/>
                  </a:lnTo>
                  <a:lnTo>
                    <a:pt x="15621" y="1259878"/>
                  </a:lnTo>
                  <a:lnTo>
                    <a:pt x="51663" y="1282471"/>
                  </a:lnTo>
                  <a:lnTo>
                    <a:pt x="71196" y="1285875"/>
                  </a:lnTo>
                  <a:lnTo>
                    <a:pt x="4972507" y="1285875"/>
                  </a:lnTo>
                  <a:lnTo>
                    <a:pt x="5007229" y="1268742"/>
                  </a:lnTo>
                  <a:lnTo>
                    <a:pt x="5018697" y="1245235"/>
                  </a:lnTo>
                  <a:lnTo>
                    <a:pt x="5019357" y="1241996"/>
                  </a:lnTo>
                  <a:lnTo>
                    <a:pt x="5019675" y="1238707"/>
                  </a:lnTo>
                  <a:lnTo>
                    <a:pt x="5019675" y="47167"/>
                  </a:lnTo>
                  <a:lnTo>
                    <a:pt x="5002542" y="12446"/>
                  </a:lnTo>
                  <a:lnTo>
                    <a:pt x="4975796" y="317"/>
                  </a:lnTo>
                  <a:lnTo>
                    <a:pt x="4972507" y="0"/>
                  </a:lnTo>
                  <a:close/>
                </a:path>
              </a:pathLst>
            </a:custGeom>
            <a:solidFill>
              <a:srgbClr val="FFFFFF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801563" y="3838587"/>
              <a:ext cx="5028565" cy="1304925"/>
            </a:xfrm>
            <a:custGeom>
              <a:avLst/>
              <a:gdLst/>
              <a:ahLst/>
              <a:cxnLst/>
              <a:rect l="l" t="t" r="r" b="b"/>
              <a:pathLst>
                <a:path w="5028565" h="1304925">
                  <a:moveTo>
                    <a:pt x="5028311" y="51828"/>
                  </a:moveTo>
                  <a:lnTo>
                    <a:pt x="5026825" y="44399"/>
                  </a:lnTo>
                  <a:lnTo>
                    <a:pt x="5020729" y="29692"/>
                  </a:lnTo>
                  <a:lnTo>
                    <a:pt x="5016398" y="23202"/>
                  </a:lnTo>
                  <a:lnTo>
                    <a:pt x="5011242" y="18059"/>
                  </a:lnTo>
                  <a:lnTo>
                    <a:pt x="5011001" y="17805"/>
                  </a:lnTo>
                  <a:lnTo>
                    <a:pt x="5010785" y="17576"/>
                  </a:lnTo>
                  <a:lnTo>
                    <a:pt x="5005146" y="11950"/>
                  </a:lnTo>
                  <a:lnTo>
                    <a:pt x="4998656" y="7607"/>
                  </a:lnTo>
                  <a:lnTo>
                    <a:pt x="4984077" y="1562"/>
                  </a:lnTo>
                  <a:lnTo>
                    <a:pt x="4984204" y="1562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4997551" y="31356"/>
                  </a:lnTo>
                  <a:lnTo>
                    <a:pt x="5002555" y="37350"/>
                  </a:lnTo>
                  <a:lnTo>
                    <a:pt x="5006340" y="44399"/>
                  </a:lnTo>
                  <a:lnTo>
                    <a:pt x="5008550" y="51828"/>
                  </a:lnTo>
                  <a:lnTo>
                    <a:pt x="5009299" y="60007"/>
                  </a:lnTo>
                  <a:lnTo>
                    <a:pt x="5009299" y="1244917"/>
                  </a:lnTo>
                  <a:lnTo>
                    <a:pt x="4990998" y="1279118"/>
                  </a:lnTo>
                  <a:lnTo>
                    <a:pt x="4968341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79" y="1243596"/>
                  </a:lnTo>
                  <a:lnTo>
                    <a:pt x="0" y="1239494"/>
                  </a:lnTo>
                  <a:lnTo>
                    <a:pt x="609" y="1243596"/>
                  </a:lnTo>
                  <a:lnTo>
                    <a:pt x="2413" y="1250797"/>
                  </a:lnTo>
                  <a:lnTo>
                    <a:pt x="4851" y="1257592"/>
                  </a:lnTo>
                  <a:lnTo>
                    <a:pt x="4953" y="1257884"/>
                  </a:lnTo>
                  <a:lnTo>
                    <a:pt x="33007" y="1292085"/>
                  </a:lnTo>
                  <a:lnTo>
                    <a:pt x="75349" y="1304925"/>
                  </a:lnTo>
                  <a:lnTo>
                    <a:pt x="4976304" y="1304925"/>
                  </a:lnTo>
                  <a:lnTo>
                    <a:pt x="4983581" y="1303464"/>
                  </a:lnTo>
                  <a:lnTo>
                    <a:pt x="4983772" y="1303464"/>
                  </a:lnTo>
                  <a:lnTo>
                    <a:pt x="4998656" y="1297305"/>
                  </a:lnTo>
                  <a:lnTo>
                    <a:pt x="5005146" y="1292974"/>
                  </a:lnTo>
                  <a:lnTo>
                    <a:pt x="5010772" y="1287348"/>
                  </a:lnTo>
                  <a:lnTo>
                    <a:pt x="5011255" y="1286865"/>
                  </a:lnTo>
                  <a:lnTo>
                    <a:pt x="5016398" y="1281722"/>
                  </a:lnTo>
                  <a:lnTo>
                    <a:pt x="5020729" y="1275232"/>
                  </a:lnTo>
                  <a:lnTo>
                    <a:pt x="5026787" y="1260627"/>
                  </a:lnTo>
                  <a:lnTo>
                    <a:pt x="5028311" y="1253083"/>
                  </a:lnTo>
                  <a:lnTo>
                    <a:pt x="5028311" y="51828"/>
                  </a:lnTo>
                  <a:close/>
                </a:path>
              </a:pathLst>
            </a:custGeom>
            <a:solidFill>
              <a:srgbClr val="C7C7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781675" y="3838575"/>
              <a:ext cx="76200" cy="1304925"/>
            </a:xfrm>
            <a:custGeom>
              <a:avLst/>
              <a:gdLst/>
              <a:ahLst/>
              <a:cxnLst/>
              <a:rect l="l" t="t" r="r" b="b"/>
              <a:pathLst>
                <a:path w="76200" h="1304925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244917"/>
                  </a:lnTo>
                  <a:lnTo>
                    <a:pt x="0" y="1248854"/>
                  </a:lnTo>
                  <a:lnTo>
                    <a:pt x="14782" y="1284566"/>
                  </a:lnTo>
                  <a:lnTo>
                    <a:pt x="52158" y="1304544"/>
                  </a:lnTo>
                  <a:lnTo>
                    <a:pt x="56070" y="1304925"/>
                  </a:lnTo>
                  <a:lnTo>
                    <a:pt x="76200" y="13049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035675" y="4011612"/>
            <a:ext cx="445325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>
                <a:solidFill>
                  <a:srgbClr val="3C3838"/>
                </a:solidFill>
                <a:latin typeface="Trebuchet MS"/>
                <a:cs typeface="Trebuchet MS"/>
              </a:rPr>
              <a:t>API</a:t>
            </a:r>
            <a:r>
              <a:rPr dirty="0" sz="1650" spc="-6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75">
                <a:solidFill>
                  <a:srgbClr val="3C3838"/>
                </a:solidFill>
                <a:latin typeface="Trebuchet MS"/>
                <a:cs typeface="Trebuchet MS"/>
              </a:rPr>
              <a:t>Key</a:t>
            </a:r>
            <a:r>
              <a:rPr dirty="0" sz="1650" spc="-10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M&amp;n&amp;gement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Sensitive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credentials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stored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6BD8"/>
                </a:solidFill>
                <a:latin typeface="Roboto"/>
                <a:cs typeface="Roboto"/>
              </a:rPr>
              <a:t>.env</a:t>
            </a:r>
            <a:r>
              <a:rPr dirty="0" sz="1350" spc="-45">
                <a:solidFill>
                  <a:srgbClr val="FF6BD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FF6BD8"/>
                </a:solidFill>
                <a:latin typeface="Roboto"/>
                <a:cs typeface="Roboto"/>
              </a:rPr>
              <a:t>files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,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never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hard-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coded,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following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industry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security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best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practices.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3" name="object 2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482725"/>
            <a:ext cx="74288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75"/>
              <a:t>Skills</a:t>
            </a:r>
            <a:r>
              <a:rPr dirty="0" spc="-95"/>
              <a:t> </a:t>
            </a:r>
            <a:r>
              <a:rPr dirty="0" spc="70"/>
              <a:t>≤&amp;ined</a:t>
            </a:r>
            <a:r>
              <a:rPr dirty="0" spc="-95"/>
              <a:t> </a:t>
            </a:r>
            <a:r>
              <a:rPr dirty="0" spc="890"/>
              <a:t>s</a:t>
            </a:r>
            <a:r>
              <a:rPr dirty="0" spc="-90"/>
              <a:t> </a:t>
            </a:r>
            <a:r>
              <a:rPr dirty="0"/>
              <a:t>Future</a:t>
            </a:r>
            <a:r>
              <a:rPr dirty="0" spc="-95"/>
              <a:t> </a:t>
            </a:r>
            <a:r>
              <a:rPr dirty="0" spc="80"/>
              <a:t>Enh&amp;ncements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38175" y="3028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38175" y="33718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38175" y="3705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38175" y="4038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38175" y="43719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38175" y="47053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87375" y="2459037"/>
            <a:ext cx="4129404" cy="23698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1B1B26"/>
                </a:solidFill>
                <a:latin typeface="Trebuchet MS"/>
                <a:cs typeface="Trebuchet MS"/>
              </a:rPr>
              <a:t>Technic&amp;l</a:t>
            </a:r>
            <a:r>
              <a:rPr dirty="0" sz="1650" spc="3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1B1B26"/>
                </a:solidFill>
                <a:latin typeface="Trebuchet MS"/>
                <a:cs typeface="Trebuchet MS"/>
              </a:rPr>
              <a:t>Skills</a:t>
            </a:r>
            <a:r>
              <a:rPr dirty="0" sz="1650" spc="35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dirty="0" sz="1650" spc="45">
                <a:solidFill>
                  <a:srgbClr val="1B1B26"/>
                </a:solidFill>
                <a:latin typeface="Trebuchet MS"/>
                <a:cs typeface="Trebuchet MS"/>
              </a:rPr>
              <a:t>Acquired</a:t>
            </a:r>
            <a:endParaRPr sz="1650">
              <a:latin typeface="Trebuchet MS"/>
              <a:cs typeface="Trebuchet MS"/>
            </a:endParaRPr>
          </a:p>
          <a:p>
            <a:pPr marL="286385" marR="5080">
              <a:lnSpc>
                <a:spcPct val="164400"/>
              </a:lnSpc>
              <a:spcBef>
                <a:spcPts val="580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FastAPI</a:t>
            </a:r>
            <a:r>
              <a:rPr dirty="0" sz="1350" spc="-7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backend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design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modular</a:t>
            </a:r>
            <a:r>
              <a:rPr dirty="0" sz="1350" spc="-7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architecture Streamlit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UI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financial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data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visualization Integration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of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multiple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LLM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APIs</a:t>
            </a:r>
            <a:endParaRPr sz="1350">
              <a:latin typeface="Roboto"/>
              <a:cs typeface="Roboto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RAG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pipelines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using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LangChain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FAISS</a:t>
            </a:r>
            <a:endParaRPr sz="1350">
              <a:latin typeface="Roboto"/>
              <a:cs typeface="Roboto"/>
            </a:endParaRPr>
          </a:p>
          <a:p>
            <a:pPr marL="286385" marR="78740">
              <a:lnSpc>
                <a:spcPct val="162000"/>
              </a:lnSpc>
            </a:pP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CORS,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JSON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APIs,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environment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management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PDF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parsing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PyMuPDF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Pandas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972175" y="3028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972175" y="33718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972175" y="3705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972175" y="4038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972175" y="43719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920930" y="2459037"/>
            <a:ext cx="3933825" cy="2036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1B1B26"/>
                </a:solidFill>
                <a:latin typeface="Trebuchet MS"/>
                <a:cs typeface="Trebuchet MS"/>
              </a:rPr>
              <a:t>Future</a:t>
            </a:r>
            <a:r>
              <a:rPr dirty="0" sz="1650" spc="12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dirty="0" sz="1650" spc="50">
                <a:solidFill>
                  <a:srgbClr val="1B1B26"/>
                </a:solidFill>
                <a:latin typeface="Trebuchet MS"/>
                <a:cs typeface="Trebuchet MS"/>
              </a:rPr>
              <a:t>Improvements</a:t>
            </a:r>
            <a:endParaRPr sz="1650">
              <a:latin typeface="Trebuchet MS"/>
              <a:cs typeface="Trebuchet MS"/>
            </a:endParaRPr>
          </a:p>
          <a:p>
            <a:pPr marL="286385" marR="5080">
              <a:lnSpc>
                <a:spcPct val="163200"/>
              </a:lnSpc>
              <a:spcBef>
                <a:spcPts val="595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Financial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forecasting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using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time-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series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LLMs 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Multi-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company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portfolio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comparison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dashboard 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Real-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time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stock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analysis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via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Yahoo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Finance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API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Automated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PDF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ingestion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3C3838"/>
                </a:solidFill>
                <a:latin typeface="Roboto"/>
                <a:cs typeface="Roboto"/>
              </a:rPr>
              <a:t>multi-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year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reports Optimized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RAG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caching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LLM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fine-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tuning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6" name="object 16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6717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25"/>
              </a:spcBef>
            </a:pPr>
            <a:r>
              <a:rPr dirty="0"/>
              <a:t>Project</a:t>
            </a:r>
            <a:r>
              <a:rPr dirty="0" spc="-254"/>
              <a:t> </a:t>
            </a:r>
            <a:r>
              <a:rPr dirty="0" spc="-10"/>
              <a:t>Imp&amp;ct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44550" y="2031364"/>
            <a:ext cx="985837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"This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project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provided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complete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3C3838"/>
                </a:solidFill>
                <a:latin typeface="Roboto"/>
                <a:cs typeface="Roboto"/>
              </a:rPr>
              <a:t>end-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to-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end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experience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in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designing,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implementing,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deploying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real-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world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AI-</a:t>
            </a:r>
            <a:r>
              <a:rPr dirty="0" sz="1350" spc="-30">
                <a:solidFill>
                  <a:srgbClr val="3C3838"/>
                </a:solidFill>
                <a:latin typeface="Roboto"/>
                <a:cs typeface="Roboto"/>
              </a:rPr>
              <a:t>driven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financial analytics</a:t>
            </a:r>
            <a:r>
              <a:rPr dirty="0" sz="1350" spc="-6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application."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00075" y="1904999"/>
            <a:ext cx="19050" cy="933450"/>
          </a:xfrm>
          <a:custGeom>
            <a:avLst/>
            <a:gdLst/>
            <a:ahLst/>
            <a:cxnLst/>
            <a:rect l="l" t="t" r="r" b="b"/>
            <a:pathLst>
              <a:path w="19050" h="933450">
                <a:moveTo>
                  <a:pt x="19050" y="0"/>
                </a:moveTo>
                <a:lnTo>
                  <a:pt x="0" y="0"/>
                </a:lnTo>
                <a:lnTo>
                  <a:pt x="0" y="933450"/>
                </a:lnTo>
                <a:lnTo>
                  <a:pt x="19050" y="933450"/>
                </a:lnTo>
                <a:lnTo>
                  <a:pt x="19050" y="0"/>
                </a:lnTo>
                <a:close/>
              </a:path>
            </a:pathLst>
          </a:custGeom>
          <a:solidFill>
            <a:srgbClr val="1B1B2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666174" y="3017554"/>
            <a:ext cx="382270" cy="537210"/>
            <a:chOff x="666174" y="3017554"/>
            <a:chExt cx="382270" cy="537210"/>
          </a:xfrm>
        </p:grpSpPr>
        <p:sp>
          <p:nvSpPr>
            <p:cNvPr id="6" name="object 6" descr=""/>
            <p:cNvSpPr/>
            <p:nvPr/>
          </p:nvSpPr>
          <p:spPr>
            <a:xfrm>
              <a:off x="677570" y="3028949"/>
              <a:ext cx="359410" cy="514350"/>
            </a:xfrm>
            <a:custGeom>
              <a:avLst/>
              <a:gdLst/>
              <a:ahLst/>
              <a:cxnLst/>
              <a:rect l="l" t="t" r="r" b="b"/>
              <a:pathLst>
                <a:path w="359409" h="514350">
                  <a:moveTo>
                    <a:pt x="96286" y="414782"/>
                  </a:moveTo>
                  <a:lnTo>
                    <a:pt x="97273" y="458710"/>
                  </a:lnTo>
                  <a:lnTo>
                    <a:pt x="115178" y="495268"/>
                  </a:lnTo>
                  <a:lnTo>
                    <a:pt x="151257" y="513328"/>
                  </a:lnTo>
                  <a:lnTo>
                    <a:pt x="200446" y="514337"/>
                  </a:lnTo>
                  <a:lnTo>
                    <a:pt x="208453" y="513272"/>
                  </a:lnTo>
                  <a:lnTo>
                    <a:pt x="247329" y="492662"/>
                  </a:lnTo>
                  <a:lnTo>
                    <a:pt x="262336" y="452181"/>
                  </a:lnTo>
                  <a:lnTo>
                    <a:pt x="262853" y="431917"/>
                  </a:lnTo>
                  <a:lnTo>
                    <a:pt x="263488" y="410943"/>
                  </a:lnTo>
                  <a:lnTo>
                    <a:pt x="270117" y="373393"/>
                  </a:lnTo>
                  <a:lnTo>
                    <a:pt x="288370" y="331825"/>
                  </a:lnTo>
                  <a:lnTo>
                    <a:pt x="316933" y="289725"/>
                  </a:lnTo>
                  <a:lnTo>
                    <a:pt x="327261" y="275801"/>
                  </a:lnTo>
                  <a:lnTo>
                    <a:pt x="346018" y="241684"/>
                  </a:lnTo>
                  <a:lnTo>
                    <a:pt x="356689" y="204735"/>
                  </a:lnTo>
                  <a:lnTo>
                    <a:pt x="359340" y="166814"/>
                  </a:lnTo>
                  <a:lnTo>
                    <a:pt x="357611" y="154178"/>
                  </a:lnTo>
                  <a:lnTo>
                    <a:pt x="343318" y="105097"/>
                  </a:lnTo>
                  <a:lnTo>
                    <a:pt x="323423" y="70866"/>
                  </a:lnTo>
                  <a:lnTo>
                    <a:pt x="296278" y="42944"/>
                  </a:lnTo>
                  <a:lnTo>
                    <a:pt x="262807" y="20669"/>
                  </a:lnTo>
                  <a:lnTo>
                    <a:pt x="213839" y="3760"/>
                  </a:lnTo>
                  <a:lnTo>
                    <a:pt x="187081" y="0"/>
                  </a:lnTo>
                  <a:lnTo>
                    <a:pt x="173637" y="325"/>
                  </a:lnTo>
                  <a:lnTo>
                    <a:pt x="135705" y="4826"/>
                  </a:lnTo>
                  <a:lnTo>
                    <a:pt x="93522" y="20980"/>
                  </a:lnTo>
                  <a:lnTo>
                    <a:pt x="56955" y="46837"/>
                  </a:lnTo>
                  <a:lnTo>
                    <a:pt x="25349" y="85750"/>
                  </a:lnTo>
                  <a:lnTo>
                    <a:pt x="6160" y="130721"/>
                  </a:lnTo>
                  <a:lnTo>
                    <a:pt x="0" y="172707"/>
                  </a:lnTo>
                  <a:lnTo>
                    <a:pt x="446" y="182008"/>
                  </a:lnTo>
                  <a:lnTo>
                    <a:pt x="6249" y="220375"/>
                  </a:lnTo>
                  <a:lnTo>
                    <a:pt x="21740" y="258775"/>
                  </a:lnTo>
                  <a:lnTo>
                    <a:pt x="44389" y="292258"/>
                  </a:lnTo>
                  <a:lnTo>
                    <a:pt x="54096" y="305646"/>
                  </a:lnTo>
                  <a:lnTo>
                    <a:pt x="76720" y="343186"/>
                  </a:lnTo>
                  <a:lnTo>
                    <a:pt x="91602" y="381254"/>
                  </a:lnTo>
                  <a:lnTo>
                    <a:pt x="95932" y="407825"/>
                  </a:lnTo>
                  <a:lnTo>
                    <a:pt x="96286" y="414782"/>
                  </a:lnTo>
                </a:path>
                <a:path w="359409" h="514350">
                  <a:moveTo>
                    <a:pt x="263028" y="406857"/>
                  </a:moveTo>
                  <a:lnTo>
                    <a:pt x="96320" y="406869"/>
                  </a:lnTo>
                </a:path>
              </a:pathLst>
            </a:custGeom>
            <a:ln w="22791">
              <a:solidFill>
                <a:srgbClr val="1B1B2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7610" y="3088915"/>
              <a:ext cx="90468" cy="109024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316037" y="3154362"/>
            <a:ext cx="254508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Technic&amp;l</a:t>
            </a:r>
            <a:r>
              <a:rPr dirty="0" sz="1650" spc="-7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M&amp;stery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Strengthened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understanding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of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backend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design,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AI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pipelines,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and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cloud</a:t>
            </a:r>
            <a:r>
              <a:rPr dirty="0" sz="1350" spc="-5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deployment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strategies.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074923" y="3017724"/>
            <a:ext cx="537210" cy="537210"/>
            <a:chOff x="4074923" y="3017724"/>
            <a:chExt cx="537210" cy="537210"/>
          </a:xfrm>
        </p:grpSpPr>
        <p:sp>
          <p:nvSpPr>
            <p:cNvPr id="10" name="object 10" descr=""/>
            <p:cNvSpPr/>
            <p:nvPr/>
          </p:nvSpPr>
          <p:spPr>
            <a:xfrm>
              <a:off x="4086224" y="3029026"/>
              <a:ext cx="493395" cy="514350"/>
            </a:xfrm>
            <a:custGeom>
              <a:avLst/>
              <a:gdLst/>
              <a:ahLst/>
              <a:cxnLst/>
              <a:rect l="l" t="t" r="r" b="b"/>
              <a:pathLst>
                <a:path w="493395" h="514350">
                  <a:moveTo>
                    <a:pt x="308432" y="272542"/>
                  </a:moveTo>
                  <a:lnTo>
                    <a:pt x="308584" y="266407"/>
                  </a:lnTo>
                  <a:lnTo>
                    <a:pt x="309626" y="261416"/>
                  </a:lnTo>
                  <a:lnTo>
                    <a:pt x="311670" y="256463"/>
                  </a:lnTo>
                  <a:lnTo>
                    <a:pt x="317652" y="246202"/>
                  </a:lnTo>
                  <a:lnTo>
                    <a:pt x="319506" y="240944"/>
                  </a:lnTo>
                  <a:lnTo>
                    <a:pt x="303809" y="218922"/>
                  </a:lnTo>
                  <a:lnTo>
                    <a:pt x="288493" y="218808"/>
                  </a:lnTo>
                </a:path>
                <a:path w="493395" h="514350">
                  <a:moveTo>
                    <a:pt x="371932" y="253161"/>
                  </a:moveTo>
                  <a:lnTo>
                    <a:pt x="367207" y="244830"/>
                  </a:lnTo>
                  <a:lnTo>
                    <a:pt x="365620" y="239801"/>
                  </a:lnTo>
                  <a:lnTo>
                    <a:pt x="365531" y="233476"/>
                  </a:lnTo>
                  <a:lnTo>
                    <a:pt x="366636" y="229717"/>
                  </a:lnTo>
                  <a:lnTo>
                    <a:pt x="367804" y="227482"/>
                  </a:lnTo>
                  <a:lnTo>
                    <a:pt x="371563" y="223024"/>
                  </a:lnTo>
                  <a:lnTo>
                    <a:pt x="376326" y="220116"/>
                  </a:lnTo>
                  <a:lnTo>
                    <a:pt x="381304" y="218998"/>
                  </a:lnTo>
                  <a:lnTo>
                    <a:pt x="394055" y="218795"/>
                  </a:lnTo>
                </a:path>
                <a:path w="493395" h="514350">
                  <a:moveTo>
                    <a:pt x="270776" y="415061"/>
                  </a:moveTo>
                  <a:lnTo>
                    <a:pt x="284187" y="454406"/>
                  </a:lnTo>
                  <a:lnTo>
                    <a:pt x="310799" y="487606"/>
                  </a:lnTo>
                  <a:lnTo>
                    <a:pt x="347421" y="508685"/>
                  </a:lnTo>
                  <a:lnTo>
                    <a:pt x="376313" y="514184"/>
                  </a:lnTo>
                  <a:lnTo>
                    <a:pt x="384737" y="514058"/>
                  </a:lnTo>
                  <a:lnTo>
                    <a:pt x="428339" y="504639"/>
                  </a:lnTo>
                  <a:lnTo>
                    <a:pt x="463972" y="479543"/>
                  </a:lnTo>
                  <a:lnTo>
                    <a:pt x="487750" y="441799"/>
                  </a:lnTo>
                  <a:lnTo>
                    <a:pt x="490524" y="434416"/>
                  </a:lnTo>
                  <a:lnTo>
                    <a:pt x="492861" y="425208"/>
                  </a:lnTo>
                </a:path>
                <a:path w="493395" h="514350">
                  <a:moveTo>
                    <a:pt x="153771" y="218757"/>
                  </a:moveTo>
                  <a:lnTo>
                    <a:pt x="138061" y="202057"/>
                  </a:lnTo>
                  <a:lnTo>
                    <a:pt x="138239" y="196329"/>
                  </a:lnTo>
                  <a:lnTo>
                    <a:pt x="139395" y="192049"/>
                  </a:lnTo>
                  <a:lnTo>
                    <a:pt x="141579" y="187515"/>
                  </a:lnTo>
                  <a:lnTo>
                    <a:pt x="147256" y="178752"/>
                  </a:lnTo>
                  <a:lnTo>
                    <a:pt x="149072" y="174358"/>
                  </a:lnTo>
                  <a:lnTo>
                    <a:pt x="150368" y="169418"/>
                  </a:lnTo>
                  <a:lnTo>
                    <a:pt x="150825" y="165785"/>
                  </a:lnTo>
                  <a:lnTo>
                    <a:pt x="150761" y="161607"/>
                  </a:lnTo>
                  <a:lnTo>
                    <a:pt x="122339" y="131610"/>
                  </a:lnTo>
                  <a:lnTo>
                    <a:pt x="118465" y="131419"/>
                  </a:lnTo>
                  <a:lnTo>
                    <a:pt x="113284" y="131762"/>
                  </a:lnTo>
                  <a:lnTo>
                    <a:pt x="86106" y="161721"/>
                  </a:lnTo>
                  <a:lnTo>
                    <a:pt x="86067" y="166700"/>
                  </a:lnTo>
                  <a:lnTo>
                    <a:pt x="86753" y="171678"/>
                  </a:lnTo>
                  <a:lnTo>
                    <a:pt x="89623" y="179425"/>
                  </a:lnTo>
                  <a:lnTo>
                    <a:pt x="94373" y="187071"/>
                  </a:lnTo>
                  <a:lnTo>
                    <a:pt x="97028" y="192151"/>
                  </a:lnTo>
                  <a:lnTo>
                    <a:pt x="98450" y="197396"/>
                  </a:lnTo>
                  <a:lnTo>
                    <a:pt x="98463" y="202717"/>
                  </a:lnTo>
                  <a:lnTo>
                    <a:pt x="96888" y="208203"/>
                  </a:lnTo>
                  <a:lnTo>
                    <a:pt x="85191" y="218122"/>
                  </a:lnTo>
                  <a:lnTo>
                    <a:pt x="77381" y="218833"/>
                  </a:lnTo>
                </a:path>
                <a:path w="493395" h="514350">
                  <a:moveTo>
                    <a:pt x="462902" y="38900"/>
                  </a:moveTo>
                  <a:lnTo>
                    <a:pt x="442201" y="3632"/>
                  </a:lnTo>
                  <a:lnTo>
                    <a:pt x="423621" y="63"/>
                  </a:lnTo>
                  <a:lnTo>
                    <a:pt x="414312" y="25"/>
                  </a:lnTo>
                </a:path>
                <a:path w="493395" h="514350">
                  <a:moveTo>
                    <a:pt x="37515" y="0"/>
                  </a:moveTo>
                  <a:lnTo>
                    <a:pt x="2590" y="22987"/>
                  </a:lnTo>
                  <a:lnTo>
                    <a:pt x="38" y="41643"/>
                  </a:lnTo>
                  <a:lnTo>
                    <a:pt x="0" y="53543"/>
                  </a:lnTo>
                </a:path>
              </a:pathLst>
            </a:custGeom>
            <a:ln w="22603">
              <a:solidFill>
                <a:srgbClr val="1B1B2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4936" y="3408363"/>
              <a:ext cx="82953" cy="65021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086224" y="3029026"/>
              <a:ext cx="514350" cy="439420"/>
            </a:xfrm>
            <a:custGeom>
              <a:avLst/>
              <a:gdLst/>
              <a:ahLst/>
              <a:cxnLst/>
              <a:rect l="l" t="t" r="r" b="b"/>
              <a:pathLst>
                <a:path w="514350" h="439420">
                  <a:moveTo>
                    <a:pt x="228066" y="77800"/>
                  </a:moveTo>
                  <a:lnTo>
                    <a:pt x="240652" y="91897"/>
                  </a:lnTo>
                  <a:lnTo>
                    <a:pt x="244170" y="91528"/>
                  </a:lnTo>
                  <a:lnTo>
                    <a:pt x="248158" y="90322"/>
                  </a:lnTo>
                  <a:lnTo>
                    <a:pt x="251180" y="88722"/>
                  </a:lnTo>
                  <a:lnTo>
                    <a:pt x="261302" y="81953"/>
                  </a:lnTo>
                  <a:lnTo>
                    <a:pt x="268732" y="79006"/>
                  </a:lnTo>
                  <a:lnTo>
                    <a:pt x="273799" y="78244"/>
                  </a:lnTo>
                  <a:lnTo>
                    <a:pt x="277952" y="78333"/>
                  </a:lnTo>
                  <a:lnTo>
                    <a:pt x="282181" y="79146"/>
                  </a:lnTo>
                  <a:lnTo>
                    <a:pt x="305904" y="113309"/>
                  </a:lnTo>
                  <a:lnTo>
                    <a:pt x="305765" y="117284"/>
                  </a:lnTo>
                  <a:lnTo>
                    <a:pt x="279857" y="148945"/>
                  </a:lnTo>
                  <a:lnTo>
                    <a:pt x="273342" y="149402"/>
                  </a:lnTo>
                  <a:lnTo>
                    <a:pt x="268211" y="149034"/>
                  </a:lnTo>
                  <a:lnTo>
                    <a:pt x="264807" y="148069"/>
                  </a:lnTo>
                  <a:lnTo>
                    <a:pt x="259359" y="145592"/>
                  </a:lnTo>
                  <a:lnTo>
                    <a:pt x="249897" y="138696"/>
                  </a:lnTo>
                  <a:lnTo>
                    <a:pt x="246735" y="137134"/>
                  </a:lnTo>
                  <a:lnTo>
                    <a:pt x="242760" y="136232"/>
                  </a:lnTo>
                  <a:lnTo>
                    <a:pt x="238721" y="136359"/>
                  </a:lnTo>
                  <a:lnTo>
                    <a:pt x="233972" y="137972"/>
                  </a:lnTo>
                  <a:lnTo>
                    <a:pt x="228460" y="150876"/>
                  </a:lnTo>
                  <a:lnTo>
                    <a:pt x="228257" y="157861"/>
                  </a:lnTo>
                </a:path>
                <a:path w="514350" h="439420">
                  <a:moveTo>
                    <a:pt x="226441" y="292328"/>
                  </a:moveTo>
                  <a:lnTo>
                    <a:pt x="224688" y="295059"/>
                  </a:lnTo>
                  <a:lnTo>
                    <a:pt x="220624" y="298183"/>
                  </a:lnTo>
                  <a:lnTo>
                    <a:pt x="217805" y="299123"/>
                  </a:lnTo>
                  <a:lnTo>
                    <a:pt x="213766" y="299339"/>
                  </a:lnTo>
                  <a:lnTo>
                    <a:pt x="209969" y="298932"/>
                  </a:lnTo>
                  <a:lnTo>
                    <a:pt x="207429" y="298221"/>
                  </a:lnTo>
                  <a:lnTo>
                    <a:pt x="198865" y="293626"/>
                  </a:lnTo>
                  <a:lnTo>
                    <a:pt x="191876" y="290568"/>
                  </a:lnTo>
                  <a:lnTo>
                    <a:pt x="185942" y="288764"/>
                  </a:lnTo>
                  <a:lnTo>
                    <a:pt x="180543" y="287934"/>
                  </a:lnTo>
                  <a:lnTo>
                    <a:pt x="176491" y="288556"/>
                  </a:lnTo>
                  <a:lnTo>
                    <a:pt x="150799" y="321017"/>
                  </a:lnTo>
                  <a:lnTo>
                    <a:pt x="150888" y="326123"/>
                  </a:lnTo>
                  <a:lnTo>
                    <a:pt x="177685" y="357022"/>
                  </a:lnTo>
                  <a:lnTo>
                    <a:pt x="182765" y="357200"/>
                  </a:lnTo>
                  <a:lnTo>
                    <a:pt x="186563" y="356857"/>
                  </a:lnTo>
                  <a:lnTo>
                    <a:pt x="192475" y="354488"/>
                  </a:lnTo>
                  <a:lnTo>
                    <a:pt x="199323" y="351131"/>
                  </a:lnTo>
                  <a:lnTo>
                    <a:pt x="205804" y="347804"/>
                  </a:lnTo>
                  <a:lnTo>
                    <a:pt x="210616" y="345528"/>
                  </a:lnTo>
                  <a:lnTo>
                    <a:pt x="213296" y="345122"/>
                  </a:lnTo>
                  <a:lnTo>
                    <a:pt x="217500" y="345300"/>
                  </a:lnTo>
                  <a:lnTo>
                    <a:pt x="223266" y="346049"/>
                  </a:lnTo>
                </a:path>
                <a:path w="514350" h="439420">
                  <a:moveTo>
                    <a:pt x="462838" y="277253"/>
                  </a:moveTo>
                  <a:lnTo>
                    <a:pt x="462902" y="38900"/>
                  </a:lnTo>
                </a:path>
                <a:path w="514350" h="439420">
                  <a:moveTo>
                    <a:pt x="223266" y="346049"/>
                  </a:moveTo>
                  <a:lnTo>
                    <a:pt x="228422" y="424573"/>
                  </a:lnTo>
                </a:path>
                <a:path w="514350" h="439420">
                  <a:moveTo>
                    <a:pt x="227825" y="38"/>
                  </a:moveTo>
                  <a:lnTo>
                    <a:pt x="228066" y="77800"/>
                  </a:lnTo>
                </a:path>
                <a:path w="514350" h="439420">
                  <a:moveTo>
                    <a:pt x="257175" y="439039"/>
                  </a:moveTo>
                  <a:lnTo>
                    <a:pt x="270776" y="415061"/>
                  </a:lnTo>
                  <a:lnTo>
                    <a:pt x="294868" y="429260"/>
                  </a:lnTo>
                </a:path>
                <a:path w="514350" h="439420">
                  <a:moveTo>
                    <a:pt x="269392" y="388467"/>
                  </a:moveTo>
                  <a:lnTo>
                    <a:pt x="281127" y="347014"/>
                  </a:lnTo>
                  <a:lnTo>
                    <a:pt x="292684" y="328726"/>
                  </a:lnTo>
                  <a:lnTo>
                    <a:pt x="297116" y="322999"/>
                  </a:lnTo>
                  <a:lnTo>
                    <a:pt x="302069" y="317741"/>
                  </a:lnTo>
                  <a:lnTo>
                    <a:pt x="307517" y="312966"/>
                  </a:lnTo>
                  <a:lnTo>
                    <a:pt x="312966" y="308178"/>
                  </a:lnTo>
                  <a:lnTo>
                    <a:pt x="344716" y="291249"/>
                  </a:lnTo>
                  <a:lnTo>
                    <a:pt x="351561" y="288848"/>
                  </a:lnTo>
                  <a:lnTo>
                    <a:pt x="358571" y="287134"/>
                  </a:lnTo>
                  <a:lnTo>
                    <a:pt x="365734" y="286080"/>
                  </a:lnTo>
                  <a:lnTo>
                    <a:pt x="372910" y="285038"/>
                  </a:lnTo>
                  <a:lnTo>
                    <a:pt x="380111" y="284683"/>
                  </a:lnTo>
                  <a:lnTo>
                    <a:pt x="387350" y="285026"/>
                  </a:lnTo>
                  <a:lnTo>
                    <a:pt x="429209" y="295198"/>
                  </a:lnTo>
                  <a:lnTo>
                    <a:pt x="435800" y="298221"/>
                  </a:lnTo>
                  <a:lnTo>
                    <a:pt x="442036" y="301840"/>
                  </a:lnTo>
                  <a:lnTo>
                    <a:pt x="447929" y="306070"/>
                  </a:lnTo>
                  <a:lnTo>
                    <a:pt x="453821" y="310286"/>
                  </a:lnTo>
                  <a:lnTo>
                    <a:pt x="459257" y="315023"/>
                  </a:lnTo>
                  <a:lnTo>
                    <a:pt x="464235" y="320294"/>
                  </a:lnTo>
                  <a:lnTo>
                    <a:pt x="469214" y="325564"/>
                  </a:lnTo>
                  <a:lnTo>
                    <a:pt x="473646" y="331254"/>
                  </a:lnTo>
                  <a:lnTo>
                    <a:pt x="477520" y="337375"/>
                  </a:lnTo>
                  <a:lnTo>
                    <a:pt x="481406" y="343484"/>
                  </a:lnTo>
                  <a:lnTo>
                    <a:pt x="494576" y="384606"/>
                  </a:lnTo>
                  <a:lnTo>
                    <a:pt x="495198" y="391795"/>
                  </a:lnTo>
                  <a:lnTo>
                    <a:pt x="495134" y="399034"/>
                  </a:lnTo>
                </a:path>
                <a:path w="514350" h="439420">
                  <a:moveTo>
                    <a:pt x="474027" y="384530"/>
                  </a:moveTo>
                  <a:lnTo>
                    <a:pt x="495884" y="399046"/>
                  </a:lnTo>
                </a:path>
                <a:path w="514350" h="439420">
                  <a:moveTo>
                    <a:pt x="288493" y="218808"/>
                  </a:moveTo>
                  <a:lnTo>
                    <a:pt x="153771" y="218757"/>
                  </a:lnTo>
                </a:path>
                <a:path w="514350" h="439420">
                  <a:moveTo>
                    <a:pt x="514350" y="377291"/>
                  </a:moveTo>
                  <a:lnTo>
                    <a:pt x="496887" y="399719"/>
                  </a:lnTo>
                </a:path>
                <a:path w="514350" h="439420">
                  <a:moveTo>
                    <a:pt x="77381" y="218833"/>
                  </a:moveTo>
                  <a:lnTo>
                    <a:pt x="25" y="218757"/>
                  </a:lnTo>
                </a:path>
                <a:path w="514350" h="439420">
                  <a:moveTo>
                    <a:pt x="394055" y="218795"/>
                  </a:moveTo>
                  <a:lnTo>
                    <a:pt x="462826" y="218732"/>
                  </a:lnTo>
                </a:path>
                <a:path w="514350" h="439420">
                  <a:moveTo>
                    <a:pt x="414312" y="25"/>
                  </a:moveTo>
                  <a:lnTo>
                    <a:pt x="37515" y="0"/>
                  </a:lnTo>
                </a:path>
                <a:path w="514350" h="439420">
                  <a:moveTo>
                    <a:pt x="0" y="53543"/>
                  </a:moveTo>
                  <a:lnTo>
                    <a:pt x="12" y="390639"/>
                  </a:lnTo>
                </a:path>
                <a:path w="514350" h="439420">
                  <a:moveTo>
                    <a:pt x="60363" y="433057"/>
                  </a:moveTo>
                  <a:lnTo>
                    <a:pt x="225628" y="433070"/>
                  </a:lnTo>
                </a:path>
                <a:path w="514350" h="439420">
                  <a:moveTo>
                    <a:pt x="228257" y="157861"/>
                  </a:moveTo>
                  <a:lnTo>
                    <a:pt x="226441" y="292328"/>
                  </a:lnTo>
                </a:path>
              </a:pathLst>
            </a:custGeom>
            <a:ln w="22603">
              <a:solidFill>
                <a:srgbClr val="1B1B2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797425" y="3154362"/>
            <a:ext cx="2358390" cy="144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3C3838"/>
                </a:solidFill>
                <a:latin typeface="Trebuchet MS"/>
                <a:cs typeface="Trebuchet MS"/>
              </a:rPr>
              <a:t>Problem</a:t>
            </a:r>
            <a:r>
              <a:rPr dirty="0" sz="1650" spc="-5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70">
                <a:solidFill>
                  <a:srgbClr val="3C3838"/>
                </a:solidFill>
                <a:latin typeface="Trebuchet MS"/>
                <a:cs typeface="Trebuchet MS"/>
              </a:rPr>
              <a:t>Solving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Overcame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CORS</a:t>
            </a:r>
            <a:r>
              <a:rPr dirty="0" sz="1350" spc="-4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errors,</a:t>
            </a:r>
            <a:r>
              <a:rPr dirty="0" sz="1350" spc="-5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API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migrations,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 performance challenges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through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systematic debugging.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669695" y="3028695"/>
            <a:ext cx="300990" cy="514984"/>
          </a:xfrm>
          <a:custGeom>
            <a:avLst/>
            <a:gdLst/>
            <a:ahLst/>
            <a:cxnLst/>
            <a:rect l="l" t="t" r="r" b="b"/>
            <a:pathLst>
              <a:path w="300990" h="514985">
                <a:moveTo>
                  <a:pt x="292709" y="358635"/>
                </a:moveTo>
                <a:lnTo>
                  <a:pt x="297568" y="321910"/>
                </a:lnTo>
                <a:lnTo>
                  <a:pt x="299993" y="301602"/>
                </a:lnTo>
                <a:lnTo>
                  <a:pt x="300674" y="292234"/>
                </a:lnTo>
                <a:lnTo>
                  <a:pt x="300304" y="288328"/>
                </a:lnTo>
                <a:lnTo>
                  <a:pt x="297734" y="284351"/>
                </a:lnTo>
                <a:lnTo>
                  <a:pt x="290509" y="275536"/>
                </a:lnTo>
                <a:lnTo>
                  <a:pt x="274954" y="257752"/>
                </a:lnTo>
                <a:lnTo>
                  <a:pt x="247396" y="226872"/>
                </a:lnTo>
                <a:lnTo>
                  <a:pt x="235165" y="215049"/>
                </a:lnTo>
              </a:path>
              <a:path w="300990" h="514985">
                <a:moveTo>
                  <a:pt x="66560" y="223494"/>
                </a:moveTo>
                <a:lnTo>
                  <a:pt x="65895" y="204165"/>
                </a:lnTo>
                <a:lnTo>
                  <a:pt x="65449" y="182830"/>
                </a:lnTo>
                <a:lnTo>
                  <a:pt x="65317" y="162860"/>
                </a:lnTo>
                <a:lnTo>
                  <a:pt x="65595" y="147624"/>
                </a:lnTo>
                <a:lnTo>
                  <a:pt x="73569" y="108177"/>
                </a:lnTo>
                <a:lnTo>
                  <a:pt x="90011" y="68348"/>
                </a:lnTo>
                <a:lnTo>
                  <a:pt x="94564" y="59499"/>
                </a:lnTo>
              </a:path>
              <a:path w="300990" h="514985">
                <a:moveTo>
                  <a:pt x="5156" y="280835"/>
                </a:moveTo>
                <a:lnTo>
                  <a:pt x="2108" y="284988"/>
                </a:lnTo>
                <a:lnTo>
                  <a:pt x="787" y="287489"/>
                </a:lnTo>
                <a:lnTo>
                  <a:pt x="0" y="290588"/>
                </a:lnTo>
                <a:lnTo>
                  <a:pt x="416" y="296551"/>
                </a:lnTo>
                <a:lnTo>
                  <a:pt x="1987" y="309905"/>
                </a:lnTo>
                <a:lnTo>
                  <a:pt x="4711" y="330650"/>
                </a:lnTo>
                <a:lnTo>
                  <a:pt x="8585" y="358787"/>
                </a:lnTo>
              </a:path>
              <a:path w="300990" h="514985">
                <a:moveTo>
                  <a:pt x="94564" y="59499"/>
                </a:moveTo>
                <a:lnTo>
                  <a:pt x="116890" y="28194"/>
                </a:lnTo>
                <a:lnTo>
                  <a:pt x="148615" y="254"/>
                </a:lnTo>
                <a:lnTo>
                  <a:pt x="151231" y="0"/>
                </a:lnTo>
                <a:lnTo>
                  <a:pt x="153466" y="419"/>
                </a:lnTo>
                <a:lnTo>
                  <a:pt x="188179" y="33272"/>
                </a:lnTo>
                <a:lnTo>
                  <a:pt x="212729" y="71391"/>
                </a:lnTo>
                <a:lnTo>
                  <a:pt x="230505" y="119657"/>
                </a:lnTo>
                <a:lnTo>
                  <a:pt x="235623" y="146761"/>
                </a:lnTo>
                <a:lnTo>
                  <a:pt x="236372" y="161455"/>
                </a:lnTo>
              </a:path>
              <a:path w="300990" h="514985">
                <a:moveTo>
                  <a:pt x="235712" y="191960"/>
                </a:moveTo>
                <a:lnTo>
                  <a:pt x="233118" y="232067"/>
                </a:lnTo>
                <a:lnTo>
                  <a:pt x="227904" y="271467"/>
                </a:lnTo>
                <a:lnTo>
                  <a:pt x="221283" y="304900"/>
                </a:lnTo>
                <a:lnTo>
                  <a:pt x="217106" y="324573"/>
                </a:lnTo>
              </a:path>
              <a:path w="300990" h="514985">
                <a:moveTo>
                  <a:pt x="292709" y="358635"/>
                </a:moveTo>
                <a:lnTo>
                  <a:pt x="217106" y="324573"/>
                </a:lnTo>
              </a:path>
              <a:path w="300990" h="514985">
                <a:moveTo>
                  <a:pt x="83591" y="324510"/>
                </a:moveTo>
                <a:lnTo>
                  <a:pt x="66090" y="212636"/>
                </a:lnTo>
              </a:path>
              <a:path w="300990" h="514985">
                <a:moveTo>
                  <a:pt x="83591" y="324510"/>
                </a:moveTo>
                <a:lnTo>
                  <a:pt x="8585" y="358787"/>
                </a:lnTo>
              </a:path>
              <a:path w="300990" h="514985">
                <a:moveTo>
                  <a:pt x="215480" y="331685"/>
                </a:moveTo>
                <a:lnTo>
                  <a:pt x="85318" y="332320"/>
                </a:lnTo>
              </a:path>
              <a:path w="300990" h="514985">
                <a:moveTo>
                  <a:pt x="64846" y="214439"/>
                </a:moveTo>
                <a:lnTo>
                  <a:pt x="5156" y="280835"/>
                </a:lnTo>
              </a:path>
              <a:path w="300990" h="514985">
                <a:moveTo>
                  <a:pt x="236372" y="161455"/>
                </a:moveTo>
                <a:lnTo>
                  <a:pt x="235712" y="191960"/>
                </a:lnTo>
              </a:path>
              <a:path w="300990" h="514985">
                <a:moveTo>
                  <a:pt x="193852" y="152387"/>
                </a:moveTo>
                <a:lnTo>
                  <a:pt x="193852" y="158140"/>
                </a:lnTo>
                <a:lnTo>
                  <a:pt x="192747" y="163664"/>
                </a:lnTo>
                <a:lnTo>
                  <a:pt x="167081" y="192443"/>
                </a:lnTo>
                <a:lnTo>
                  <a:pt x="161772" y="194652"/>
                </a:lnTo>
                <a:lnTo>
                  <a:pt x="156235" y="195745"/>
                </a:lnTo>
                <a:lnTo>
                  <a:pt x="150495" y="195745"/>
                </a:lnTo>
                <a:lnTo>
                  <a:pt x="144729" y="195745"/>
                </a:lnTo>
                <a:lnTo>
                  <a:pt x="139204" y="194652"/>
                </a:lnTo>
                <a:lnTo>
                  <a:pt x="133896" y="192443"/>
                </a:lnTo>
                <a:lnTo>
                  <a:pt x="128587" y="190246"/>
                </a:lnTo>
                <a:lnTo>
                  <a:pt x="107124" y="158140"/>
                </a:lnTo>
                <a:lnTo>
                  <a:pt x="107124" y="152387"/>
                </a:lnTo>
                <a:lnTo>
                  <a:pt x="107124" y="146634"/>
                </a:lnTo>
                <a:lnTo>
                  <a:pt x="119824" y="121729"/>
                </a:lnTo>
                <a:lnTo>
                  <a:pt x="123888" y="117652"/>
                </a:lnTo>
                <a:lnTo>
                  <a:pt x="128587" y="114528"/>
                </a:lnTo>
                <a:lnTo>
                  <a:pt x="133896" y="112318"/>
                </a:lnTo>
                <a:lnTo>
                  <a:pt x="139204" y="110121"/>
                </a:lnTo>
                <a:lnTo>
                  <a:pt x="144729" y="109029"/>
                </a:lnTo>
                <a:lnTo>
                  <a:pt x="150495" y="109029"/>
                </a:lnTo>
                <a:lnTo>
                  <a:pt x="156235" y="109029"/>
                </a:lnTo>
                <a:lnTo>
                  <a:pt x="181152" y="121729"/>
                </a:lnTo>
                <a:lnTo>
                  <a:pt x="185216" y="125793"/>
                </a:lnTo>
                <a:lnTo>
                  <a:pt x="188341" y="130479"/>
                </a:lnTo>
                <a:lnTo>
                  <a:pt x="190550" y="135788"/>
                </a:lnTo>
                <a:lnTo>
                  <a:pt x="192747" y="141109"/>
                </a:lnTo>
                <a:lnTo>
                  <a:pt x="193852" y="146634"/>
                </a:lnTo>
                <a:lnTo>
                  <a:pt x="193852" y="152387"/>
                </a:lnTo>
                <a:close/>
              </a:path>
              <a:path w="300990" h="514985">
                <a:moveTo>
                  <a:pt x="186423" y="365493"/>
                </a:moveTo>
                <a:lnTo>
                  <a:pt x="198296" y="383319"/>
                </a:lnTo>
                <a:lnTo>
                  <a:pt x="201618" y="402528"/>
                </a:lnTo>
                <a:lnTo>
                  <a:pt x="198149" y="422177"/>
                </a:lnTo>
                <a:lnTo>
                  <a:pt x="189649" y="441325"/>
                </a:lnTo>
              </a:path>
              <a:path w="300990" h="514985">
                <a:moveTo>
                  <a:pt x="113525" y="366522"/>
                </a:moveTo>
                <a:lnTo>
                  <a:pt x="100626" y="389615"/>
                </a:lnTo>
                <a:lnTo>
                  <a:pt x="99475" y="411103"/>
                </a:lnTo>
                <a:lnTo>
                  <a:pt x="106903" y="432874"/>
                </a:lnTo>
                <a:lnTo>
                  <a:pt x="119735" y="456819"/>
                </a:lnTo>
              </a:path>
              <a:path w="300990" h="514985">
                <a:moveTo>
                  <a:pt x="189649" y="441325"/>
                </a:moveTo>
                <a:lnTo>
                  <a:pt x="150342" y="512686"/>
                </a:lnTo>
              </a:path>
              <a:path w="300990" h="514985">
                <a:moveTo>
                  <a:pt x="119735" y="456819"/>
                </a:moveTo>
                <a:lnTo>
                  <a:pt x="150380" y="514604"/>
                </a:lnTo>
              </a:path>
            </a:pathLst>
          </a:custGeom>
          <a:ln w="22792">
            <a:solidFill>
              <a:srgbClr val="1B1B2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278812" y="3154362"/>
            <a:ext cx="2430780" cy="144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>
                <a:solidFill>
                  <a:srgbClr val="3C3838"/>
                </a:solidFill>
                <a:latin typeface="Trebuchet MS"/>
                <a:cs typeface="Trebuchet MS"/>
              </a:rPr>
              <a:t>Re&amp;l-</a:t>
            </a:r>
            <a:r>
              <a:rPr dirty="0" sz="1650" spc="80">
                <a:solidFill>
                  <a:srgbClr val="3C3838"/>
                </a:solidFill>
                <a:latin typeface="Trebuchet MS"/>
                <a:cs typeface="Trebuchet MS"/>
              </a:rPr>
              <a:t>World</a:t>
            </a:r>
            <a:r>
              <a:rPr dirty="0" sz="1650" spc="-85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3C3838"/>
                </a:solidFill>
                <a:latin typeface="Trebuchet MS"/>
                <a:cs typeface="Trebuchet MS"/>
              </a:rPr>
              <a:t>Applic&amp;tion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Built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a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3C3838"/>
                </a:solidFill>
                <a:latin typeface="Roboto"/>
                <a:cs typeface="Roboto"/>
              </a:rPr>
              <a:t>production-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ready system integrating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cutting-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edge</a:t>
            </a:r>
            <a:r>
              <a:rPr dirty="0" sz="1350" spc="-3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AI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technologies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 financial analysis.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0075" y="4919662"/>
            <a:ext cx="10229850" cy="28575"/>
            <a:chOff x="600075" y="4919662"/>
            <a:chExt cx="10229850" cy="28575"/>
          </a:xfrm>
        </p:grpSpPr>
        <p:sp>
          <p:nvSpPr>
            <p:cNvPr id="17" name="object 17" descr=""/>
            <p:cNvSpPr/>
            <p:nvPr/>
          </p:nvSpPr>
          <p:spPr>
            <a:xfrm>
              <a:off x="600075" y="4919662"/>
              <a:ext cx="10229850" cy="28575"/>
            </a:xfrm>
            <a:custGeom>
              <a:avLst/>
              <a:gdLst/>
              <a:ahLst/>
              <a:cxnLst/>
              <a:rect l="l" t="t" r="r" b="b"/>
              <a:pathLst>
                <a:path w="10229850" h="28575">
                  <a:moveTo>
                    <a:pt x="1022985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0229850" y="28575"/>
                  </a:lnTo>
                  <a:lnTo>
                    <a:pt x="10229850" y="0"/>
                  </a:lnTo>
                  <a:close/>
                </a:path>
              </a:pathLst>
            </a:custGeom>
            <a:solidFill>
              <a:srgbClr val="3C3838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0075" y="4938712"/>
              <a:ext cx="10229850" cy="9525"/>
            </a:xfrm>
            <a:custGeom>
              <a:avLst/>
              <a:gdLst/>
              <a:ahLst/>
              <a:cxnLst/>
              <a:rect l="l" t="t" r="r" b="b"/>
              <a:pathLst>
                <a:path w="10229850" h="9525">
                  <a:moveTo>
                    <a:pt x="102298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229850" y="9525"/>
                  </a:lnTo>
                  <a:lnTo>
                    <a:pt x="10229850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87375" y="5149851"/>
            <a:ext cx="92189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3C3838"/>
                </a:solidFill>
                <a:latin typeface="Roboto"/>
                <a:cs typeface="Roboto"/>
              </a:rPr>
              <a:t>References:</a:t>
            </a:r>
            <a:r>
              <a:rPr dirty="0" sz="1350" spc="-20" b="1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FastAPI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Documentation,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Streamlit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Framework,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LangChain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Documentation,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3C3838"/>
                </a:solidFill>
                <a:latin typeface="Roboto"/>
                <a:cs typeface="Roboto"/>
              </a:rPr>
              <a:t>OpenAI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Python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SDK,</a:t>
            </a:r>
            <a:r>
              <a:rPr dirty="0" sz="1350" spc="-2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3C3838"/>
                </a:solidFill>
                <a:latin typeface="Roboto"/>
                <a:cs typeface="Roboto"/>
              </a:rPr>
              <a:t>FAISS</a:t>
            </a:r>
            <a:r>
              <a:rPr dirty="0" sz="1350" spc="-15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3C3838"/>
                </a:solidFill>
                <a:latin typeface="Roboto"/>
                <a:cs typeface="Roboto"/>
              </a:rPr>
              <a:t>Library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0" name="object 20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2025-11-07T20:58:52Z</dcterms:created>
  <dcterms:modified xsi:type="dcterms:W3CDTF">2025-11-07T20:58:52Z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2025-11-07T00:00:00Z</vt:filetime>
  </property>
  <property fmtid="{D5CDD505-2E9C-101B-9397-08002B2CF9AE}" pid="5" name="Producer">
    <vt:lpwstr>GPL Ghostscript 9.56.1</vt:lpwstr>
  </property>
</Properties>
</file>